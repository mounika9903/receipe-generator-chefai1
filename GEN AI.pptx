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307" r:id="rId2"/>
    <p:sldId id="257" r:id="rId3"/>
    <p:sldId id="259" r:id="rId4"/>
    <p:sldId id="265" r:id="rId5"/>
    <p:sldId id="270" r:id="rId6"/>
    <p:sldId id="311" r:id="rId7"/>
    <p:sldId id="310" r:id="rId8"/>
    <p:sldId id="319" r:id="rId9"/>
    <p:sldId id="269" r:id="rId10"/>
    <p:sldId id="321" r:id="rId11"/>
    <p:sldId id="320" r:id="rId12"/>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8DC0DA-7427-4B21-A401-3DFDC5E0E179}" v="19" dt="2026-05-12T09:15:22.29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810" autoAdjust="0"/>
  </p:normalViewPr>
  <p:slideViewPr>
    <p:cSldViewPr>
      <p:cViewPr varScale="1">
        <p:scale>
          <a:sx n="69" d="100"/>
          <a:sy n="69" d="100"/>
        </p:scale>
        <p:origin x="834"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D854FC1D-031C-41AD-81A5-CEF4B902753D}" type="datetimeFigureOut">
              <a:rPr lang="en-US" smtClean="0"/>
              <a:t>5/12/2026</a:t>
            </a:fld>
            <a:endParaRPr lang="en-US"/>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BC3060DB-4493-4B44-995B-2B37A98D7505}" type="slidenum">
              <a:rPr lang="en-US" smtClean="0"/>
              <a:t>‹#›</a:t>
            </a:fld>
            <a:endParaRPr lang="en-US"/>
          </a:p>
        </p:txBody>
      </p:sp>
    </p:spTree>
    <p:extLst>
      <p:ext uri="{BB962C8B-B14F-4D97-AF65-F5344CB8AC3E}">
        <p14:creationId xmlns:p14="http://schemas.microsoft.com/office/powerpoint/2010/main" val="458924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3060DB-4493-4B44-995B-2B37A98D7505}" type="slidenum">
              <a:rPr lang="en-US" smtClean="0"/>
              <a:t>9</a:t>
            </a:fld>
            <a:endParaRPr lang="en-US"/>
          </a:p>
        </p:txBody>
      </p:sp>
    </p:spTree>
    <p:extLst>
      <p:ext uri="{BB962C8B-B14F-4D97-AF65-F5344CB8AC3E}">
        <p14:creationId xmlns:p14="http://schemas.microsoft.com/office/powerpoint/2010/main" val="1729376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90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2494956"/>
            <a:ext cx="13716000" cy="2769989"/>
          </a:xfrm>
        </p:spPr>
        <p:txBody>
          <a:bodyPr anchor="b"/>
          <a:lstStyle>
            <a:lvl1pPr algn="ctr">
              <a:defRPr sz="9000"/>
            </a:lvl1pPr>
          </a:lstStyle>
          <a:p>
            <a:r>
              <a:rPr lang="en-US"/>
              <a:t>Click to edit Master title style</a:t>
            </a:r>
            <a:endParaRPr lang="en-US" dirty="0"/>
          </a:p>
        </p:txBody>
      </p:sp>
      <p:sp>
        <p:nvSpPr>
          <p:cNvPr id="3" name="Subtitle 2"/>
          <p:cNvSpPr>
            <a:spLocks noGrp="1"/>
          </p:cNvSpPr>
          <p:nvPr>
            <p:ph type="subTitle" idx="1"/>
          </p:nvPr>
        </p:nvSpPr>
        <p:spPr>
          <a:xfrm>
            <a:off x="2286000" y="5403057"/>
            <a:ext cx="13716000" cy="553998"/>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a:xfrm>
            <a:off x="914400" y="9566910"/>
            <a:ext cx="4206240" cy="276999"/>
          </a:xfrm>
        </p:spPr>
        <p:txBody>
          <a:bodyPr/>
          <a:lstStyle/>
          <a:p>
            <a:fld id="{4EF2C784-923F-4967-831D-414454348EF0}" type="datetimeFigureOut">
              <a:rPr lang="en-IN" smtClean="0"/>
              <a:t>12-05-2026</a:t>
            </a:fld>
            <a:endParaRPr lang="en-IN"/>
          </a:p>
        </p:txBody>
      </p:sp>
      <p:sp>
        <p:nvSpPr>
          <p:cNvPr id="5" name="Footer Placeholder 4"/>
          <p:cNvSpPr>
            <a:spLocks noGrp="1"/>
          </p:cNvSpPr>
          <p:nvPr>
            <p:ph type="ftr" sz="quarter" idx="11"/>
          </p:nvPr>
        </p:nvSpPr>
        <p:spPr>
          <a:xfrm>
            <a:off x="6217920" y="9566910"/>
            <a:ext cx="5852160" cy="276999"/>
          </a:xfrm>
        </p:spPr>
        <p:txBody>
          <a:bodyPr/>
          <a:lstStyle/>
          <a:p>
            <a:endParaRPr lang="en-IN"/>
          </a:p>
        </p:txBody>
      </p:sp>
      <p:sp>
        <p:nvSpPr>
          <p:cNvPr id="6" name="Slide Number Placeholder 5"/>
          <p:cNvSpPr>
            <a:spLocks noGrp="1"/>
          </p:cNvSpPr>
          <p:nvPr>
            <p:ph type="sldNum" sz="quarter" idx="12"/>
          </p:nvPr>
        </p:nvSpPr>
        <p:spPr>
          <a:xfrm>
            <a:off x="13167361" y="9566910"/>
            <a:ext cx="4206240" cy="276999"/>
          </a:xfrm>
        </p:spPr>
        <p:txBody>
          <a:bodyPr/>
          <a:lstStyle/>
          <a:p>
            <a:fld id="{9872ED4D-6F54-4661-8AE5-46454C040F0C}" type="slidenum">
              <a:rPr lang="en-IN" smtClean="0"/>
              <a:t>‹#›</a:t>
            </a:fld>
            <a:endParaRPr lang="en-IN"/>
          </a:p>
        </p:txBody>
      </p:sp>
    </p:spTree>
    <p:extLst>
      <p:ext uri="{BB962C8B-B14F-4D97-AF65-F5344CB8AC3E}">
        <p14:creationId xmlns:p14="http://schemas.microsoft.com/office/powerpoint/2010/main" val="5365537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707943" y="2940050"/>
            <a:ext cx="6872113" cy="1397000"/>
          </a:xfrm>
          <a:prstGeom prst="rect">
            <a:avLst/>
          </a:prstGeom>
        </p:spPr>
        <p:txBody>
          <a:bodyPr wrap="square" lIns="0" tIns="0" rIns="0" bIns="0">
            <a:spAutoFit/>
          </a:bodyPr>
          <a:lstStyle>
            <a:lvl1pPr>
              <a:defRPr sz="9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208064" y="2676757"/>
            <a:ext cx="16051242" cy="5892701"/>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3" name="Picture 2"/>
          <p:cNvPicPr>
            <a:picLocks noChangeAspect="1"/>
          </p:cNvPicPr>
          <p:nvPr/>
        </p:nvPicPr>
        <p:blipFill>
          <a:blip r:embed="rId2"/>
          <a:stretch>
            <a:fillRect/>
          </a:stretch>
        </p:blipFill>
        <p:spPr>
          <a:xfrm>
            <a:off x="4300153" y="362509"/>
            <a:ext cx="10541594" cy="1457711"/>
          </a:xfrm>
          <a:prstGeom prst="rect">
            <a:avLst/>
          </a:prstGeom>
        </p:spPr>
      </p:pic>
      <p:pic>
        <p:nvPicPr>
          <p:cNvPr id="2097154" name="Picture 6"/>
          <p:cNvPicPr>
            <a:picLocks noChangeAspect="1"/>
          </p:cNvPicPr>
          <p:nvPr/>
        </p:nvPicPr>
        <p:blipFill>
          <a:blip r:embed="rId3"/>
          <a:stretch>
            <a:fillRect/>
          </a:stretch>
        </p:blipFill>
        <p:spPr>
          <a:xfrm>
            <a:off x="331124" y="257765"/>
            <a:ext cx="3299490" cy="1662825"/>
          </a:xfrm>
          <a:prstGeom prst="rect">
            <a:avLst/>
          </a:prstGeom>
        </p:spPr>
      </p:pic>
      <p:sp>
        <p:nvSpPr>
          <p:cNvPr id="1048616" name="TextBox 9"/>
          <p:cNvSpPr txBox="1"/>
          <p:nvPr/>
        </p:nvSpPr>
        <p:spPr>
          <a:xfrm>
            <a:off x="1196647" y="1826438"/>
            <a:ext cx="16342742"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Department of Computer Science Engineering-Data Science</a:t>
            </a:r>
          </a:p>
        </p:txBody>
      </p:sp>
      <p:sp>
        <p:nvSpPr>
          <p:cNvPr id="1048621" name="Rectangle 15"/>
          <p:cNvSpPr/>
          <p:nvPr/>
        </p:nvSpPr>
        <p:spPr>
          <a:xfrm>
            <a:off x="7072501" y="8275896"/>
            <a:ext cx="4142997" cy="461665"/>
          </a:xfrm>
          <a:prstGeom prst="rect">
            <a:avLst/>
          </a:prstGeom>
        </p:spPr>
        <p:txBody>
          <a:bodyPr wrap="square">
            <a:spAutoFit/>
          </a:bodyPr>
          <a:lstStyle/>
          <a:p>
            <a:pPr algn="ctr"/>
            <a:r>
              <a:rPr lang="en-US" sz="2400"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Under the Guidance of </a:t>
            </a:r>
            <a:endParaRPr lang="en-US" sz="2400" b="1" u="sng" dirty="0">
              <a:latin typeface="Times New Roman" panose="02020603050405020304" pitchFamily="18" charset="0"/>
              <a:cs typeface="Times New Roman" panose="02020603050405020304" pitchFamily="18" charset="0"/>
            </a:endParaRPr>
          </a:p>
        </p:txBody>
      </p:sp>
      <p:sp>
        <p:nvSpPr>
          <p:cNvPr id="1048623" name="Rectangle 16"/>
          <p:cNvSpPr/>
          <p:nvPr/>
        </p:nvSpPr>
        <p:spPr>
          <a:xfrm>
            <a:off x="6731307" y="8724162"/>
            <a:ext cx="5079692" cy="1200329"/>
          </a:xfrm>
          <a:prstGeom prst="rect">
            <a:avLst/>
          </a:prstGeom>
        </p:spPr>
        <p:txBody>
          <a:bodyPr wrap="square">
            <a:spAutoFit/>
          </a:bodyPr>
          <a:lstStyle/>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Dr. D. Aradhana</a:t>
            </a:r>
          </a:p>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Head of the Department </a:t>
            </a:r>
          </a:p>
          <a:p>
            <a:pPr algn="ctr"/>
            <a:r>
              <a:rPr lang="en-US" sz="2400" dirty="0">
                <a:solidFill>
                  <a:srgbClr val="000000"/>
                </a:solidFill>
                <a:latin typeface="Times New Roman" panose="02020603050405020304" pitchFamily="18" charset="0"/>
                <a:cs typeface="Times New Roman" panose="02020603050405020304" pitchFamily="18" charset="0"/>
              </a:rPr>
              <a:t>Dept. of CSE-DS</a:t>
            </a:r>
            <a:endParaRPr lang="en-US" sz="2400" dirty="0">
              <a:latin typeface="Times New Roman" panose="02020603050405020304" pitchFamily="18" charset="0"/>
              <a:cs typeface="Times New Roman" panose="02020603050405020304" pitchFamily="18" charset="0"/>
            </a:endParaRPr>
          </a:p>
        </p:txBody>
      </p:sp>
      <p:pic>
        <p:nvPicPr>
          <p:cNvPr id="2097155" name="Picture 7"/>
          <p:cNvPicPr>
            <a:picLocks noChangeAspect="1"/>
          </p:cNvPicPr>
          <p:nvPr/>
        </p:nvPicPr>
        <p:blipFill rotWithShape="1">
          <a:blip r:embed="rId4"/>
          <a:srcRect l="6737" t="9425" r="9081" b="14499"/>
          <a:stretch>
            <a:fillRect/>
          </a:stretch>
        </p:blipFill>
        <p:spPr>
          <a:xfrm>
            <a:off x="15105419" y="65196"/>
            <a:ext cx="2954972" cy="2000250"/>
          </a:xfrm>
          <a:prstGeom prst="rect">
            <a:avLst/>
          </a:prstGeom>
        </p:spPr>
      </p:pic>
      <p:sp>
        <p:nvSpPr>
          <p:cNvPr id="2" name="TextBox 1"/>
          <p:cNvSpPr txBox="1"/>
          <p:nvPr/>
        </p:nvSpPr>
        <p:spPr>
          <a:xfrm>
            <a:off x="4038600" y="2822485"/>
            <a:ext cx="9532535" cy="2185214"/>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A  Project  Presentation </a:t>
            </a:r>
          </a:p>
          <a:p>
            <a:pPr algn="ctr"/>
            <a:r>
              <a:rPr lang="en-US" sz="2800" dirty="0">
                <a:latin typeface="Times New Roman" panose="02020603050405020304" pitchFamily="18" charset="0"/>
                <a:cs typeface="Times New Roman" panose="02020603050405020304" pitchFamily="18" charset="0"/>
              </a:rPr>
              <a:t>on</a:t>
            </a:r>
          </a:p>
          <a:p>
            <a:pPr algn="ctr"/>
            <a:r>
              <a:rPr lang="en-US" sz="4400" dirty="0">
                <a:solidFill>
                  <a:schemeClr val="accent5">
                    <a:lumMod val="75000"/>
                  </a:schemeClr>
                </a:solidFill>
                <a:latin typeface="Times New Roman" panose="02020603050405020304" pitchFamily="18" charset="0"/>
                <a:cs typeface="Times New Roman" panose="02020603050405020304" pitchFamily="18" charset="0"/>
              </a:rPr>
              <a:t>“Recipe Generator : </a:t>
            </a:r>
            <a:r>
              <a:rPr lang="en-US" sz="4400" dirty="0" err="1">
                <a:solidFill>
                  <a:schemeClr val="accent5">
                    <a:lumMod val="75000"/>
                  </a:schemeClr>
                </a:solidFill>
                <a:latin typeface="Times New Roman" panose="02020603050405020304" pitchFamily="18" charset="0"/>
                <a:cs typeface="Times New Roman" panose="02020603050405020304" pitchFamily="18" charset="0"/>
              </a:rPr>
              <a:t>ChefAI</a:t>
            </a:r>
            <a:r>
              <a:rPr lang="en-US" sz="4400" dirty="0">
                <a:latin typeface="Times New Roman" panose="02020603050405020304" pitchFamily="18" charset="0"/>
                <a:cs typeface="Times New Roman" panose="02020603050405020304" pitchFamily="18" charset="0"/>
              </a:rPr>
              <a:t>”</a:t>
            </a:r>
          </a:p>
          <a:p>
            <a:pPr algn="ctr"/>
            <a:endParaRPr lang="en-IN" sz="3600" dirty="0">
              <a:solidFill>
                <a:schemeClr val="bg2"/>
              </a:solidFill>
              <a:latin typeface="Times New Roman" panose="02020603050405020304" pitchFamily="18" charset="0"/>
              <a:cs typeface="Times New Roman" panose="02020603050405020304" pitchFamily="18" charset="0"/>
            </a:endParaRPr>
          </a:p>
        </p:txBody>
      </p:sp>
      <p:sp>
        <p:nvSpPr>
          <p:cNvPr id="3" name="Rectangle 12">
            <a:extLst>
              <a:ext uri="{FF2B5EF4-FFF2-40B4-BE49-F238E27FC236}">
                <a16:creationId xmlns:a16="http://schemas.microsoft.com/office/drawing/2014/main" id="{04CEB389-BE77-8CBC-B2A2-BCEDC0A03D1D}"/>
              </a:ext>
            </a:extLst>
          </p:cNvPr>
          <p:cNvSpPr/>
          <p:nvPr/>
        </p:nvSpPr>
        <p:spPr>
          <a:xfrm>
            <a:off x="3978638" y="5789123"/>
            <a:ext cx="10171114" cy="461665"/>
          </a:xfrm>
          <a:prstGeom prst="rect">
            <a:avLst/>
          </a:prstGeom>
        </p:spPr>
        <p:txBody>
          <a:bodyPr wrap="square">
            <a:spAutoFit/>
          </a:bodyPr>
          <a:lstStyle/>
          <a:p>
            <a:pPr algn="ct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b="1" u="sng" dirty="0">
                <a:latin typeface="Times New Roman" panose="02020603050405020304" pitchFamily="18" charset="0"/>
                <a:ea typeface="Calibri" panose="020F0502020204030204" pitchFamily="34" charset="0"/>
                <a:cs typeface="Times New Roman" panose="02020603050405020304" pitchFamily="18" charset="0"/>
              </a:rPr>
              <a:t>Presented by</a:t>
            </a:r>
            <a:r>
              <a:rPr lang="en-US" sz="2400" dirty="0">
                <a:latin typeface="Times New Roman" panose="02020603050405020304" pitchFamily="18" charset="0"/>
                <a:cs typeface="Times New Roman" panose="02020603050405020304" pitchFamily="18" charset="0"/>
              </a:rPr>
              <a:t>                                   </a:t>
            </a:r>
            <a:r>
              <a:rPr lang="en-US" sz="2400" dirty="0">
                <a:latin typeface="Arial" panose="020B0604020202020204" pitchFamily="34" charset="0"/>
                <a:ea typeface="Calibri" panose="020F050202020403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C808EB91-3DB7-A7B4-8B05-F25FF1B805C0}"/>
              </a:ext>
            </a:extLst>
          </p:cNvPr>
          <p:cNvGraphicFramePr>
            <a:graphicFrameLocks noGrp="1"/>
          </p:cNvGraphicFramePr>
          <p:nvPr>
            <p:extLst>
              <p:ext uri="{D42A27DB-BD31-4B8C-83A1-F6EECF244321}">
                <p14:modId xmlns:p14="http://schemas.microsoft.com/office/powerpoint/2010/main" val="1129706774"/>
              </p:ext>
            </p:extLst>
          </p:nvPr>
        </p:nvGraphicFramePr>
        <p:xfrm>
          <a:off x="6476999" y="6361918"/>
          <a:ext cx="5334000" cy="1584960"/>
        </p:xfrm>
        <a:graphic>
          <a:graphicData uri="http://schemas.openxmlformats.org/drawingml/2006/table">
            <a:tbl>
              <a:tblPr firstRow="1" bandRow="1">
                <a:tableStyleId>{2D5ABB26-0587-4C30-8999-92F81FD0307C}</a:tableStyleId>
              </a:tblPr>
              <a:tblGrid>
                <a:gridCol w="2667000">
                  <a:extLst>
                    <a:ext uri="{9D8B030D-6E8A-4147-A177-3AD203B41FA5}">
                      <a16:colId xmlns:a16="http://schemas.microsoft.com/office/drawing/2014/main" val="3343895659"/>
                    </a:ext>
                  </a:extLst>
                </a:gridCol>
                <a:gridCol w="2667000">
                  <a:extLst>
                    <a:ext uri="{9D8B030D-6E8A-4147-A177-3AD203B41FA5}">
                      <a16:colId xmlns:a16="http://schemas.microsoft.com/office/drawing/2014/main" val="2051304188"/>
                    </a:ext>
                  </a:extLst>
                </a:gridCol>
              </a:tblGrid>
              <a:tr h="370840">
                <a:tc>
                  <a:txBody>
                    <a:bodyPr/>
                    <a:lstStyle/>
                    <a:p>
                      <a:pPr algn="ctr"/>
                      <a:r>
                        <a:rPr lang="en-IN" sz="2000" b="1" dirty="0">
                          <a:latin typeface="Times New Roman" panose="02020603050405020304" pitchFamily="18" charset="0"/>
                          <a:cs typeface="Times New Roman" panose="02020603050405020304" pitchFamily="18" charset="0"/>
                        </a:rPr>
                        <a:t>Chetana H K</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IN" sz="2000" b="1" dirty="0">
                          <a:latin typeface="Times New Roman" panose="02020603050405020304" pitchFamily="18" charset="0"/>
                          <a:cs typeface="Times New Roman" panose="02020603050405020304" pitchFamily="18" charset="0"/>
                        </a:rPr>
                        <a:t>3BR22CD007</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1178101"/>
                  </a:ext>
                </a:extLst>
              </a:tr>
              <a:tr h="370840">
                <a:tc>
                  <a:txBody>
                    <a:bodyPr/>
                    <a:lstStyle/>
                    <a:p>
                      <a:pPr algn="ctr"/>
                      <a:r>
                        <a:rPr lang="en-IN" sz="2000" b="1" dirty="0">
                          <a:latin typeface="Times New Roman" panose="02020603050405020304" pitchFamily="18" charset="0"/>
                          <a:cs typeface="Times New Roman" panose="02020603050405020304" pitchFamily="18" charset="0"/>
                        </a:rPr>
                        <a:t>K Shashikala</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IN" sz="2000" b="1" dirty="0">
                          <a:latin typeface="Times New Roman" panose="02020603050405020304" pitchFamily="18" charset="0"/>
                          <a:cs typeface="Times New Roman" panose="02020603050405020304" pitchFamily="18" charset="0"/>
                        </a:rPr>
                        <a:t>3BR22CD023</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93561552"/>
                  </a:ext>
                </a:extLst>
              </a:tr>
              <a:tr h="370840">
                <a:tc>
                  <a:txBody>
                    <a:bodyPr/>
                    <a:lstStyle/>
                    <a:p>
                      <a:pPr algn="ctr"/>
                      <a:r>
                        <a:rPr lang="en-IN" sz="2000" b="1" dirty="0">
                          <a:latin typeface="Times New Roman" panose="02020603050405020304" pitchFamily="18" charset="0"/>
                          <a:cs typeface="Times New Roman" panose="02020603050405020304" pitchFamily="18" charset="0"/>
                        </a:rPr>
                        <a:t>Mounika M</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IN" sz="2000" b="1" dirty="0">
                          <a:latin typeface="Times New Roman" panose="02020603050405020304" pitchFamily="18" charset="0"/>
                          <a:cs typeface="Times New Roman" panose="02020603050405020304" pitchFamily="18" charset="0"/>
                        </a:rPr>
                        <a:t>3BR22CD039</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55807040"/>
                  </a:ext>
                </a:extLst>
              </a:tr>
              <a:tr h="370840">
                <a:tc>
                  <a:txBody>
                    <a:bodyPr/>
                    <a:lstStyle/>
                    <a:p>
                      <a:pPr algn="ctr"/>
                      <a:r>
                        <a:rPr lang="en-IN" sz="2000" b="1" dirty="0">
                          <a:latin typeface="Times New Roman" panose="02020603050405020304" pitchFamily="18" charset="0"/>
                          <a:cs typeface="Times New Roman" panose="02020603050405020304" pitchFamily="18" charset="0"/>
                        </a:rPr>
                        <a:t>Pushpitha J R</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IN" sz="2000" b="1" dirty="0">
                          <a:latin typeface="Times New Roman" panose="02020603050405020304" pitchFamily="18" charset="0"/>
                          <a:cs typeface="Times New Roman" panose="02020603050405020304" pitchFamily="18" charset="0"/>
                        </a:rPr>
                        <a:t>3BR22CD046</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6958846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object 19"/>
          <p:cNvSpPr txBox="1"/>
          <p:nvPr/>
        </p:nvSpPr>
        <p:spPr>
          <a:xfrm>
            <a:off x="910666" y="176206"/>
            <a:ext cx="15243733" cy="1243930"/>
          </a:xfrm>
          <a:prstGeom prst="rect">
            <a:avLst/>
          </a:prstGeom>
        </p:spPr>
        <p:txBody>
          <a:bodyPr vert="horz" wrap="square" lIns="0" tIns="12700" rIns="0" bIns="0" rtlCol="0">
            <a:spAutoFit/>
          </a:bodyPr>
          <a:lstStyle/>
          <a:p>
            <a:pPr marL="12700" algn="ctr">
              <a:lnSpc>
                <a:spcPct val="100000"/>
              </a:lnSpc>
              <a:spcBef>
                <a:spcPts val="100"/>
              </a:spcBef>
            </a:pPr>
            <a:r>
              <a:rPr lang="en-IN" sz="8000" b="1" spc="225" dirty="0">
                <a:latin typeface="Times New Roman"/>
                <a:cs typeface="Times New Roman"/>
              </a:rPr>
              <a:t>CONTENTS</a:t>
            </a:r>
            <a:endParaRPr lang="en-IN" sz="8000" dirty="0">
              <a:latin typeface="Times New Roman"/>
              <a:cs typeface="Times New Roman"/>
            </a:endParaRPr>
          </a:p>
        </p:txBody>
      </p:sp>
      <p:graphicFrame>
        <p:nvGraphicFramePr>
          <p:cNvPr id="5" name="Table 4">
            <a:extLst>
              <a:ext uri="{FF2B5EF4-FFF2-40B4-BE49-F238E27FC236}">
                <a16:creationId xmlns:a16="http://schemas.microsoft.com/office/drawing/2014/main" id="{4D47A45B-B7A6-5CC0-2E4B-944DE4D962AF}"/>
              </a:ext>
            </a:extLst>
          </p:cNvPr>
          <p:cNvGraphicFramePr>
            <a:graphicFrameLocks noGrp="1"/>
          </p:cNvGraphicFramePr>
          <p:nvPr>
            <p:extLst>
              <p:ext uri="{D42A27DB-BD31-4B8C-83A1-F6EECF244321}">
                <p14:modId xmlns:p14="http://schemas.microsoft.com/office/powerpoint/2010/main" val="3052340660"/>
              </p:ext>
            </p:extLst>
          </p:nvPr>
        </p:nvGraphicFramePr>
        <p:xfrm>
          <a:off x="910667" y="2095500"/>
          <a:ext cx="12192000" cy="7806395"/>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32006639"/>
                    </a:ext>
                  </a:extLst>
                </a:gridCol>
              </a:tblGrid>
              <a:tr h="957775">
                <a:tc>
                  <a:txBody>
                    <a:bodyPr/>
                    <a:lstStyle/>
                    <a:p>
                      <a:pPr marL="457200" indent="-4572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ABSTRACT</a:t>
                      </a: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1486064"/>
                  </a:ext>
                </a:extLst>
              </a:tr>
              <a:tr h="957775">
                <a:tc>
                  <a:txBody>
                    <a:bodyPr/>
                    <a:lstStyle/>
                    <a:p>
                      <a:pPr marL="457200" indent="-4572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OBJECTIVES</a:t>
                      </a: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3382550"/>
                  </a:ext>
                </a:extLst>
              </a:tr>
              <a:tr h="957775">
                <a:tc>
                  <a:txBody>
                    <a:bodyPr/>
                    <a:lstStyle/>
                    <a:p>
                      <a:pPr marL="457200" indent="-4572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SCOPE OF THE PROJECT</a:t>
                      </a: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6226566"/>
                  </a:ext>
                </a:extLst>
              </a:tr>
              <a:tr h="957775">
                <a:tc>
                  <a:txBody>
                    <a:bodyPr/>
                    <a:lstStyle/>
                    <a:p>
                      <a:pPr marL="457200" indent="-4572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TECHNOLOGY USED</a:t>
                      </a:r>
                    </a:p>
                  </a:txBody>
                  <a:tcPr/>
                </a:tc>
                <a:extLst>
                  <a:ext uri="{0D108BD9-81ED-4DB2-BD59-A6C34878D82A}">
                    <a16:rowId xmlns:a16="http://schemas.microsoft.com/office/drawing/2014/main" val="3738629531"/>
                  </a:ext>
                </a:extLst>
              </a:tr>
              <a:tr h="1764323">
                <a:tc>
                  <a:txBody>
                    <a:bodyPr/>
                    <a:lstStyle/>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PROJECT DESCRIPTION</a:t>
                      </a:r>
                    </a:p>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None/>
                        <a:tabLst/>
                        <a:defRPr/>
                      </a:pPr>
                      <a:endParaRPr lang="en-IN" sz="3200" dirty="0">
                        <a:latin typeface="Times New Roman" panose="02020603050405020304" pitchFamily="18" charset="0"/>
                        <a:cs typeface="Times New Roman" panose="02020603050405020304" pitchFamily="18" charset="0"/>
                      </a:endParaRP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IMPLEMENTATION</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lang="en-IN" sz="3200" dirty="0">
                        <a:latin typeface="Times New Roman" panose="02020603050405020304" pitchFamily="18" charset="0"/>
                        <a:cs typeface="Times New Roman" panose="02020603050405020304" pitchFamily="18" charset="0"/>
                      </a:endParaRP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RESULT</a:t>
                      </a:r>
                    </a:p>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None/>
                        <a:tabLst/>
                        <a:defRPr/>
                      </a:pP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34067871"/>
                  </a:ext>
                </a:extLst>
              </a:tr>
              <a:tr h="957775">
                <a:tc>
                  <a:txBody>
                    <a:bodyPr/>
                    <a:lstStyle/>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CONCLUSION</a:t>
                      </a:r>
                    </a:p>
                  </a:txBody>
                  <a:tcPr/>
                </a:tc>
                <a:extLst>
                  <a:ext uri="{0D108BD9-81ED-4DB2-BD59-A6C34878D82A}">
                    <a16:rowId xmlns:a16="http://schemas.microsoft.com/office/drawing/2014/main" val="333188486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533400" y="342900"/>
            <a:ext cx="16916400" cy="1243930"/>
          </a:xfrm>
          <a:prstGeom prst="rect">
            <a:avLst/>
          </a:prstGeom>
        </p:spPr>
        <p:txBody>
          <a:bodyPr vert="horz" wrap="square" lIns="0" tIns="12700" rIns="0" bIns="0" rtlCol="0">
            <a:spAutoFit/>
          </a:bodyPr>
          <a:lstStyle/>
          <a:p>
            <a:pPr marL="12700" marR="5080" indent="965835" algn="ctr">
              <a:lnSpc>
                <a:spcPct val="100000"/>
              </a:lnSpc>
              <a:spcBef>
                <a:spcPts val="100"/>
              </a:spcBef>
            </a:pPr>
            <a:r>
              <a:rPr lang="en-IN" sz="8000" spc="345" dirty="0"/>
              <a:t>ABSTRACT</a:t>
            </a:r>
            <a:endParaRPr sz="8000" spc="250" dirty="0"/>
          </a:p>
        </p:txBody>
      </p:sp>
      <p:sp>
        <p:nvSpPr>
          <p:cNvPr id="16" name="TextBox 15">
            <a:extLst>
              <a:ext uri="{FF2B5EF4-FFF2-40B4-BE49-F238E27FC236}">
                <a16:creationId xmlns:a16="http://schemas.microsoft.com/office/drawing/2014/main" id="{2522642A-3EC5-B3E5-8A46-D9A6D34219DD}"/>
              </a:ext>
            </a:extLst>
          </p:cNvPr>
          <p:cNvSpPr txBox="1"/>
          <p:nvPr/>
        </p:nvSpPr>
        <p:spPr>
          <a:xfrm>
            <a:off x="762000" y="2512010"/>
            <a:ext cx="16916400" cy="5632311"/>
          </a:xfrm>
          <a:prstGeom prst="rect">
            <a:avLst/>
          </a:prstGeom>
          <a:noFill/>
        </p:spPr>
        <p:txBody>
          <a:bodyPr wrap="square">
            <a:spAutoFit/>
          </a:bodyPr>
          <a:lstStyle/>
          <a:p>
            <a:pPr algn="just"/>
            <a:r>
              <a:rPr lang="en-US" sz="4000" dirty="0">
                <a:latin typeface="Times New Roman" panose="02020603050405020304" pitchFamily="18" charset="0"/>
                <a:cs typeface="Times New Roman" panose="02020603050405020304" pitchFamily="18" charset="0"/>
              </a:rPr>
              <a:t>The AI-Powered Recipe Generator is a smart web application developed using React and AI that helps users generate personalized recipes based on available ingredients, meal preferences, and dietary restrictions. The system uses Generative AI to create unique and well-structured recipes instantly. Users simply enter ingredients they have at home, choose the meal type and dietary preference, and the application generates a complete recipe including preparation time, ingredients list, cooking instructions, and chef tips.</a:t>
            </a:r>
          </a:p>
          <a:p>
            <a:pPr algn="just"/>
            <a:endParaRPr lang="en-US" sz="4000" dirty="0">
              <a:latin typeface="Times New Roman" panose="02020603050405020304" pitchFamily="18" charset="0"/>
              <a:ea typeface="Tahoma" panose="020B0604030504040204" pitchFamily="34" charset="0"/>
              <a:cs typeface="Times New Roman" panose="02020603050405020304" pitchFamily="18" charset="0"/>
            </a:endParaRPr>
          </a:p>
          <a:p>
            <a:pPr algn="just"/>
            <a:r>
              <a:rPr lang="en-US" sz="4000" dirty="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ea typeface="Tahoma" panose="020B060403050404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38200" y="642993"/>
            <a:ext cx="16306800" cy="1243930"/>
          </a:xfrm>
          <a:prstGeom prst="rect">
            <a:avLst/>
          </a:prstGeom>
        </p:spPr>
        <p:txBody>
          <a:bodyPr vert="horz" wrap="square" lIns="0" tIns="12700" rIns="0" bIns="0" rtlCol="0">
            <a:spAutoFit/>
          </a:bodyPr>
          <a:lstStyle/>
          <a:p>
            <a:pPr marL="12700" algn="ctr">
              <a:lnSpc>
                <a:spcPct val="100000"/>
              </a:lnSpc>
              <a:spcBef>
                <a:spcPts val="100"/>
              </a:spcBef>
            </a:pPr>
            <a:r>
              <a:rPr lang="en-IN" sz="8000" spc="390" dirty="0"/>
              <a:t>OBJECTIVES</a:t>
            </a:r>
            <a:endParaRPr sz="8000" spc="390" dirty="0"/>
          </a:p>
        </p:txBody>
      </p:sp>
      <p:sp>
        <p:nvSpPr>
          <p:cNvPr id="9" name="object 9"/>
          <p:cNvSpPr txBox="1"/>
          <p:nvPr/>
        </p:nvSpPr>
        <p:spPr>
          <a:xfrm>
            <a:off x="5028639" y="6345527"/>
            <a:ext cx="13030200" cy="505267"/>
          </a:xfrm>
          <a:prstGeom prst="rect">
            <a:avLst/>
          </a:prstGeom>
        </p:spPr>
        <p:txBody>
          <a:bodyPr vert="horz" wrap="square" lIns="0" tIns="12700" rIns="0" bIns="0" rtlCol="0">
            <a:spAutoFit/>
          </a:bodyPr>
          <a:lstStyle/>
          <a:p>
            <a:pPr marR="26670" algn="ctr">
              <a:lnSpc>
                <a:spcPct val="100000"/>
              </a:lnSpc>
              <a:spcBef>
                <a:spcPts val="100"/>
              </a:spcBef>
            </a:pPr>
            <a:endParaRPr lang="en-US" sz="32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42DE3E99-5CDE-BFA9-FFDC-0600A66598CA}"/>
              </a:ext>
            </a:extLst>
          </p:cNvPr>
          <p:cNvSpPr>
            <a:spLocks noChangeArrowheads="1"/>
          </p:cNvSpPr>
          <p:nvPr/>
        </p:nvSpPr>
        <p:spPr bwMode="auto">
          <a:xfrm>
            <a:off x="225413" y="2164579"/>
            <a:ext cx="17754039" cy="6444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IN" sz="4000" dirty="0">
                <a:latin typeface="Times New Roman" panose="02020603050405020304" pitchFamily="18" charset="0"/>
                <a:cs typeface="Times New Roman" panose="02020603050405020304" pitchFamily="18" charset="0"/>
              </a:rPr>
              <a:t>To develop an AI-based recipe generation system using Generative AI. </a:t>
            </a:r>
          </a:p>
          <a:p>
            <a:pPr marL="0" marR="0" lvl="0" indent="0" algn="l" defTabSz="914400" rtl="0" eaLnBrk="0" fontAlgn="base" latinLnBrk="0" hangingPunct="0">
              <a:lnSpc>
                <a:spcPct val="150000"/>
              </a:lnSpc>
              <a:spcBef>
                <a:spcPct val="0"/>
              </a:spcBef>
              <a:spcAft>
                <a:spcPct val="0"/>
              </a:spcAft>
              <a:buClrTx/>
              <a:buSzTx/>
              <a:buFontTx/>
              <a:buChar char="•"/>
              <a:tabLst/>
            </a:pPr>
            <a:r>
              <a:rPr lang="en-IN" sz="4000" dirty="0">
                <a:latin typeface="Times New Roman" panose="02020603050405020304" pitchFamily="18" charset="0"/>
                <a:cs typeface="Times New Roman" panose="02020603050405020304" pitchFamily="18" charset="0"/>
              </a:rPr>
              <a:t>To provide personalized recipe suggestions based on available ingredients. To support different meal categories such as breakfast, lunch, dinner, snacks, and desserts. </a:t>
            </a:r>
          </a:p>
          <a:p>
            <a:pPr marL="0" marR="0" lvl="0" indent="0" algn="l" defTabSz="914400" rtl="0" eaLnBrk="0" fontAlgn="base" latinLnBrk="0" hangingPunct="0">
              <a:lnSpc>
                <a:spcPct val="150000"/>
              </a:lnSpc>
              <a:spcBef>
                <a:spcPct val="0"/>
              </a:spcBef>
              <a:spcAft>
                <a:spcPct val="0"/>
              </a:spcAft>
              <a:buClrTx/>
              <a:buSzTx/>
              <a:buFontTx/>
              <a:buChar char="•"/>
              <a:tabLst/>
            </a:pPr>
            <a:r>
              <a:rPr lang="en-IN" sz="4000" dirty="0">
                <a:latin typeface="Times New Roman" panose="02020603050405020304" pitchFamily="18" charset="0"/>
                <a:cs typeface="Times New Roman" panose="02020603050405020304" pitchFamily="18" charset="0"/>
              </a:rPr>
              <a:t>To include dietary preferences like vegetarian, vegan, keto, gluten-free, and non-vegetarian options. </a:t>
            </a:r>
          </a:p>
          <a:p>
            <a:pPr marL="0" marR="0" lvl="0" indent="0" algn="l" defTabSz="914400" rtl="0" eaLnBrk="0" fontAlgn="base" latinLnBrk="0" hangingPunct="0">
              <a:lnSpc>
                <a:spcPct val="150000"/>
              </a:lnSpc>
              <a:spcBef>
                <a:spcPct val="0"/>
              </a:spcBef>
              <a:spcAft>
                <a:spcPct val="0"/>
              </a:spcAft>
              <a:buClrTx/>
              <a:buSzTx/>
              <a:buFontTx/>
              <a:buChar char="•"/>
              <a:tabLst/>
            </a:pPr>
            <a:r>
              <a:rPr lang="en-IN" sz="4000" dirty="0">
                <a:latin typeface="Times New Roman" panose="02020603050405020304" pitchFamily="18" charset="0"/>
                <a:cs typeface="Times New Roman" panose="02020603050405020304" pitchFamily="18" charset="0"/>
              </a:rPr>
              <a:t>To create a responsive and user-friendly web interface using React.</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052989" y="647700"/>
            <a:ext cx="12115799" cy="1243930"/>
          </a:xfrm>
          <a:prstGeom prst="rect">
            <a:avLst/>
          </a:prstGeom>
        </p:spPr>
        <p:txBody>
          <a:bodyPr vert="horz" wrap="square" lIns="0" tIns="12700" rIns="0" bIns="0" rtlCol="0">
            <a:spAutoFit/>
          </a:bodyPr>
          <a:lstStyle/>
          <a:p>
            <a:pPr marL="12700" algn="ctr">
              <a:lnSpc>
                <a:spcPct val="100000"/>
              </a:lnSpc>
              <a:spcBef>
                <a:spcPts val="100"/>
              </a:spcBef>
            </a:pPr>
            <a:r>
              <a:rPr lang="en-IN" sz="8000" spc="375" dirty="0"/>
              <a:t>SCOPE OF PROJECT</a:t>
            </a:r>
            <a:endParaRPr sz="8000" spc="310" dirty="0"/>
          </a:p>
        </p:txBody>
      </p:sp>
      <p:sp>
        <p:nvSpPr>
          <p:cNvPr id="12" name="Rectangle 8">
            <a:extLst>
              <a:ext uri="{FF2B5EF4-FFF2-40B4-BE49-F238E27FC236}">
                <a16:creationId xmlns:a16="http://schemas.microsoft.com/office/drawing/2014/main" id="{E9884516-7265-CC5E-0310-8B4A9FCAC65B}"/>
              </a:ext>
            </a:extLst>
          </p:cNvPr>
          <p:cNvSpPr>
            <a:spLocks noChangeArrowheads="1"/>
          </p:cNvSpPr>
          <p:nvPr/>
        </p:nvSpPr>
        <p:spPr bwMode="auto">
          <a:xfrm>
            <a:off x="1447800" y="3179622"/>
            <a:ext cx="15697200" cy="5829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4000" dirty="0">
                <a:latin typeface="Times New Roman" panose="02020603050405020304" pitchFamily="18" charset="0"/>
                <a:cs typeface="Times New Roman" panose="02020603050405020304" pitchFamily="18" charset="0"/>
              </a:rPr>
              <a:t>Developing a web-based intelligent cooking assistant capable of generating recipes dynamically using Artificial Intelligence.</a:t>
            </a:r>
          </a:p>
          <a:p>
            <a:r>
              <a:rPr lang="en-US" sz="4000" dirty="0">
                <a:latin typeface="Times New Roman" panose="02020603050405020304" pitchFamily="18" charset="0"/>
                <a:cs typeface="Times New Roman" panose="02020603050405020304" pitchFamily="18" charset="0"/>
              </a:rPr>
              <a:t>The application can be used by:</a:t>
            </a: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Students living independently </a:t>
            </a: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Home cooks </a:t>
            </a: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Working professionals </a:t>
            </a: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Health-conscious users </a:t>
            </a:r>
          </a:p>
          <a:p>
            <a:pPr marL="571500" indent="-571500">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People with dietary restrictions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5">
            <a:extLst>
              <a:ext uri="{FF2B5EF4-FFF2-40B4-BE49-F238E27FC236}">
                <a16:creationId xmlns:a16="http://schemas.microsoft.com/office/drawing/2014/main" id="{C7CEB3A8-39A2-F6EF-C8F6-64C215F8039D}"/>
              </a:ext>
            </a:extLst>
          </p:cNvPr>
          <p:cNvSpPr txBox="1">
            <a:spLocks/>
          </p:cNvSpPr>
          <p:nvPr/>
        </p:nvSpPr>
        <p:spPr>
          <a:xfrm>
            <a:off x="3052989" y="647700"/>
            <a:ext cx="12115799" cy="1243930"/>
          </a:xfrm>
          <a:prstGeom prst="rect">
            <a:avLst/>
          </a:prstGeom>
        </p:spPr>
        <p:txBody>
          <a:bodyPr vert="horz" wrap="square" lIns="0" tIns="12700" rIns="0" bIns="0" rtlCol="0">
            <a:spAutoFit/>
          </a:bodyPr>
          <a:lstStyle>
            <a:lvl1pPr>
              <a:defRPr>
                <a:latin typeface="+mj-lt"/>
                <a:ea typeface="+mj-ea"/>
                <a:cs typeface="+mj-cs"/>
              </a:defRPr>
            </a:lvl1pPr>
          </a:lstStyle>
          <a:p>
            <a:pPr marL="12700" algn="ctr">
              <a:spcBef>
                <a:spcPts val="100"/>
              </a:spcBef>
            </a:pPr>
            <a:r>
              <a:rPr lang="en-IN" sz="8000" b="1" spc="375" dirty="0">
                <a:latin typeface="Times New Roman" panose="02020603050405020304" pitchFamily="18" charset="0"/>
                <a:cs typeface="Times New Roman" panose="02020603050405020304" pitchFamily="18" charset="0"/>
              </a:rPr>
              <a:t>TECHNOLOGY USED</a:t>
            </a:r>
            <a:endParaRPr lang="en-IN" sz="8000" b="1" spc="31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F384A55E-DBCB-15F5-0E1A-01B8ACFDF086}"/>
              </a:ext>
            </a:extLst>
          </p:cNvPr>
          <p:cNvGraphicFramePr>
            <a:graphicFrameLocks noGrp="1"/>
          </p:cNvGraphicFramePr>
          <p:nvPr>
            <p:extLst>
              <p:ext uri="{D42A27DB-BD31-4B8C-83A1-F6EECF244321}">
                <p14:modId xmlns:p14="http://schemas.microsoft.com/office/powerpoint/2010/main" val="3177365393"/>
              </p:ext>
            </p:extLst>
          </p:nvPr>
        </p:nvGraphicFramePr>
        <p:xfrm>
          <a:off x="2133600" y="2029688"/>
          <a:ext cx="14020800" cy="7620003"/>
        </p:xfrm>
        <a:graphic>
          <a:graphicData uri="http://schemas.openxmlformats.org/drawingml/2006/table">
            <a:tbl>
              <a:tblPr>
                <a:tableStyleId>{5940675A-B579-460E-94D1-54222C63F5DA}</a:tableStyleId>
              </a:tblPr>
              <a:tblGrid>
                <a:gridCol w="6705600">
                  <a:extLst>
                    <a:ext uri="{9D8B030D-6E8A-4147-A177-3AD203B41FA5}">
                      <a16:colId xmlns:a16="http://schemas.microsoft.com/office/drawing/2014/main" val="521872613"/>
                    </a:ext>
                  </a:extLst>
                </a:gridCol>
                <a:gridCol w="7315200">
                  <a:extLst>
                    <a:ext uri="{9D8B030D-6E8A-4147-A177-3AD203B41FA5}">
                      <a16:colId xmlns:a16="http://schemas.microsoft.com/office/drawing/2014/main" val="3893632573"/>
                    </a:ext>
                  </a:extLst>
                </a:gridCol>
              </a:tblGrid>
              <a:tr h="846667">
                <a:tc>
                  <a:txBody>
                    <a:bodyPr/>
                    <a:lstStyle/>
                    <a:p>
                      <a:pPr algn="ctr">
                        <a:buNone/>
                      </a:pPr>
                      <a:r>
                        <a:rPr lang="en-IN" sz="4000" b="1" dirty="0">
                          <a:latin typeface="Times New Roman" panose="02020603050405020304" pitchFamily="18" charset="0"/>
                          <a:cs typeface="Times New Roman" panose="02020603050405020304" pitchFamily="18" charset="0"/>
                        </a:rPr>
                        <a:t>Technology</a:t>
                      </a:r>
                    </a:p>
                  </a:txBody>
                  <a:tcPr anchor="ctr"/>
                </a:tc>
                <a:tc>
                  <a:txBody>
                    <a:bodyPr/>
                    <a:lstStyle/>
                    <a:p>
                      <a:pPr algn="ctr">
                        <a:buNone/>
                      </a:pPr>
                      <a:r>
                        <a:rPr lang="en-IN" sz="4000" b="1" dirty="0">
                          <a:latin typeface="Times New Roman" panose="02020603050405020304" pitchFamily="18" charset="0"/>
                          <a:cs typeface="Times New Roman" panose="02020603050405020304" pitchFamily="18" charset="0"/>
                        </a:rPr>
                        <a:t>Purpose</a:t>
                      </a:r>
                    </a:p>
                  </a:txBody>
                  <a:tcPr anchor="ctr"/>
                </a:tc>
                <a:extLst>
                  <a:ext uri="{0D108BD9-81ED-4DB2-BD59-A6C34878D82A}">
                    <a16:rowId xmlns:a16="http://schemas.microsoft.com/office/drawing/2014/main" val="4156469755"/>
                  </a:ext>
                </a:extLst>
              </a:tr>
              <a:tr h="846667">
                <a:tc>
                  <a:txBody>
                    <a:bodyPr/>
                    <a:lstStyle/>
                    <a:p>
                      <a:pPr algn="ctr">
                        <a:buNone/>
                      </a:pPr>
                      <a:r>
                        <a:rPr lang="en-IN" sz="4000" dirty="0">
                          <a:latin typeface="Times New Roman" panose="02020603050405020304" pitchFamily="18" charset="0"/>
                          <a:cs typeface="Times New Roman" panose="02020603050405020304" pitchFamily="18" charset="0"/>
                        </a:rPr>
                        <a:t>React.js</a:t>
                      </a:r>
                    </a:p>
                  </a:txBody>
                  <a:tcPr anchor="ctr"/>
                </a:tc>
                <a:tc>
                  <a:txBody>
                    <a:bodyPr/>
                    <a:lstStyle/>
                    <a:p>
                      <a:pPr algn="ctr">
                        <a:buNone/>
                      </a:pPr>
                      <a:r>
                        <a:rPr lang="en-IN" sz="4000">
                          <a:latin typeface="Times New Roman" panose="02020603050405020304" pitchFamily="18" charset="0"/>
                          <a:cs typeface="Times New Roman" panose="02020603050405020304" pitchFamily="18" charset="0"/>
                        </a:rPr>
                        <a:t>Frontend UI development</a:t>
                      </a:r>
                    </a:p>
                  </a:txBody>
                  <a:tcPr anchor="ctr"/>
                </a:tc>
                <a:extLst>
                  <a:ext uri="{0D108BD9-81ED-4DB2-BD59-A6C34878D82A}">
                    <a16:rowId xmlns:a16="http://schemas.microsoft.com/office/drawing/2014/main" val="1363385691"/>
                  </a:ext>
                </a:extLst>
              </a:tr>
              <a:tr h="846667">
                <a:tc>
                  <a:txBody>
                    <a:bodyPr/>
                    <a:lstStyle/>
                    <a:p>
                      <a:pPr algn="ctr">
                        <a:buNone/>
                      </a:pPr>
                      <a:r>
                        <a:rPr lang="en-IN" sz="4000" dirty="0">
                          <a:latin typeface="Times New Roman" panose="02020603050405020304" pitchFamily="18" charset="0"/>
                          <a:cs typeface="Times New Roman" panose="02020603050405020304" pitchFamily="18" charset="0"/>
                        </a:rPr>
                        <a:t>JavaScript</a:t>
                      </a:r>
                    </a:p>
                  </a:txBody>
                  <a:tcPr anchor="ctr"/>
                </a:tc>
                <a:tc>
                  <a:txBody>
                    <a:bodyPr/>
                    <a:lstStyle/>
                    <a:p>
                      <a:pPr algn="ctr">
                        <a:buNone/>
                      </a:pPr>
                      <a:r>
                        <a:rPr lang="en-IN" sz="4000" dirty="0">
                          <a:latin typeface="Times New Roman" panose="02020603050405020304" pitchFamily="18" charset="0"/>
                          <a:cs typeface="Times New Roman" panose="02020603050405020304" pitchFamily="18" charset="0"/>
                        </a:rPr>
                        <a:t>Application logic</a:t>
                      </a:r>
                    </a:p>
                  </a:txBody>
                  <a:tcPr anchor="ctr"/>
                </a:tc>
                <a:extLst>
                  <a:ext uri="{0D108BD9-81ED-4DB2-BD59-A6C34878D82A}">
                    <a16:rowId xmlns:a16="http://schemas.microsoft.com/office/drawing/2014/main" val="3276556669"/>
                  </a:ext>
                </a:extLst>
              </a:tr>
              <a:tr h="846667">
                <a:tc>
                  <a:txBody>
                    <a:bodyPr/>
                    <a:lstStyle/>
                    <a:p>
                      <a:pPr algn="ctr">
                        <a:buNone/>
                      </a:pPr>
                      <a:r>
                        <a:rPr lang="en-IN" sz="4000" dirty="0">
                          <a:latin typeface="Times New Roman" panose="02020603050405020304" pitchFamily="18" charset="0"/>
                          <a:cs typeface="Times New Roman" panose="02020603050405020304" pitchFamily="18" charset="0"/>
                        </a:rPr>
                        <a:t>HTML5</a:t>
                      </a:r>
                    </a:p>
                  </a:txBody>
                  <a:tcPr anchor="ctr"/>
                </a:tc>
                <a:tc>
                  <a:txBody>
                    <a:bodyPr/>
                    <a:lstStyle/>
                    <a:p>
                      <a:pPr algn="ctr">
                        <a:buNone/>
                      </a:pPr>
                      <a:r>
                        <a:rPr lang="en-IN" sz="4000" dirty="0">
                          <a:latin typeface="Times New Roman" panose="02020603050405020304" pitchFamily="18" charset="0"/>
                          <a:cs typeface="Times New Roman" panose="02020603050405020304" pitchFamily="18" charset="0"/>
                        </a:rPr>
                        <a:t>Structure of web pages</a:t>
                      </a:r>
                    </a:p>
                  </a:txBody>
                  <a:tcPr anchor="ctr"/>
                </a:tc>
                <a:extLst>
                  <a:ext uri="{0D108BD9-81ED-4DB2-BD59-A6C34878D82A}">
                    <a16:rowId xmlns:a16="http://schemas.microsoft.com/office/drawing/2014/main" val="3339926615"/>
                  </a:ext>
                </a:extLst>
              </a:tr>
              <a:tr h="846667">
                <a:tc>
                  <a:txBody>
                    <a:bodyPr/>
                    <a:lstStyle/>
                    <a:p>
                      <a:pPr algn="ctr">
                        <a:buNone/>
                      </a:pPr>
                      <a:r>
                        <a:rPr lang="en-IN" sz="4000" dirty="0">
                          <a:latin typeface="Times New Roman" panose="02020603050405020304" pitchFamily="18" charset="0"/>
                          <a:cs typeface="Times New Roman" panose="02020603050405020304" pitchFamily="18" charset="0"/>
                        </a:rPr>
                        <a:t>CSS3</a:t>
                      </a:r>
                    </a:p>
                  </a:txBody>
                  <a:tcPr anchor="ctr"/>
                </a:tc>
                <a:tc>
                  <a:txBody>
                    <a:bodyPr/>
                    <a:lstStyle/>
                    <a:p>
                      <a:pPr algn="ctr">
                        <a:buNone/>
                      </a:pPr>
                      <a:r>
                        <a:rPr lang="en-IN" sz="4000" dirty="0">
                          <a:latin typeface="Times New Roman" panose="02020603050405020304" pitchFamily="18" charset="0"/>
                          <a:cs typeface="Times New Roman" panose="02020603050405020304" pitchFamily="18" charset="0"/>
                        </a:rPr>
                        <a:t>Styling and responsive design</a:t>
                      </a:r>
                    </a:p>
                  </a:txBody>
                  <a:tcPr anchor="ctr"/>
                </a:tc>
                <a:extLst>
                  <a:ext uri="{0D108BD9-81ED-4DB2-BD59-A6C34878D82A}">
                    <a16:rowId xmlns:a16="http://schemas.microsoft.com/office/drawing/2014/main" val="4113630633"/>
                  </a:ext>
                </a:extLst>
              </a:tr>
              <a:tr h="846667">
                <a:tc>
                  <a:txBody>
                    <a:bodyPr/>
                    <a:lstStyle/>
                    <a:p>
                      <a:pPr algn="ctr">
                        <a:buNone/>
                      </a:pPr>
                      <a:r>
                        <a:rPr lang="en-IN" sz="4000" dirty="0">
                          <a:latin typeface="Times New Roman" panose="02020603050405020304" pitchFamily="18" charset="0"/>
                          <a:cs typeface="Times New Roman" panose="02020603050405020304" pitchFamily="18" charset="0"/>
                        </a:rPr>
                        <a:t>Google Gemini AI API</a:t>
                      </a:r>
                    </a:p>
                  </a:txBody>
                  <a:tcPr anchor="ctr"/>
                </a:tc>
                <a:tc>
                  <a:txBody>
                    <a:bodyPr/>
                    <a:lstStyle/>
                    <a:p>
                      <a:pPr algn="ctr">
                        <a:buNone/>
                      </a:pPr>
                      <a:r>
                        <a:rPr lang="en-IN" sz="4000" dirty="0">
                          <a:latin typeface="Times New Roman" panose="02020603050405020304" pitchFamily="18" charset="0"/>
                          <a:cs typeface="Times New Roman" panose="02020603050405020304" pitchFamily="18" charset="0"/>
                        </a:rPr>
                        <a:t>AI-based recipe generation</a:t>
                      </a:r>
                    </a:p>
                  </a:txBody>
                  <a:tcPr anchor="ctr"/>
                </a:tc>
                <a:extLst>
                  <a:ext uri="{0D108BD9-81ED-4DB2-BD59-A6C34878D82A}">
                    <a16:rowId xmlns:a16="http://schemas.microsoft.com/office/drawing/2014/main" val="3417330232"/>
                  </a:ext>
                </a:extLst>
              </a:tr>
              <a:tr h="846667">
                <a:tc>
                  <a:txBody>
                    <a:bodyPr/>
                    <a:lstStyle/>
                    <a:p>
                      <a:pPr algn="ctr">
                        <a:buNone/>
                      </a:pPr>
                      <a:r>
                        <a:rPr lang="en-IN" sz="4000">
                          <a:latin typeface="Times New Roman" panose="02020603050405020304" pitchFamily="18" charset="0"/>
                          <a:cs typeface="Times New Roman" panose="02020603050405020304" pitchFamily="18" charset="0"/>
                        </a:rPr>
                        <a:t>React Markdown</a:t>
                      </a:r>
                    </a:p>
                  </a:txBody>
                  <a:tcPr anchor="ctr"/>
                </a:tc>
                <a:tc>
                  <a:txBody>
                    <a:bodyPr/>
                    <a:lstStyle/>
                    <a:p>
                      <a:pPr algn="ctr">
                        <a:buNone/>
                      </a:pPr>
                      <a:r>
                        <a:rPr lang="en-IN" sz="4000" dirty="0">
                          <a:latin typeface="Times New Roman" panose="02020603050405020304" pitchFamily="18" charset="0"/>
                          <a:cs typeface="Times New Roman" panose="02020603050405020304" pitchFamily="18" charset="0"/>
                        </a:rPr>
                        <a:t>Rendering formatted recipes</a:t>
                      </a:r>
                    </a:p>
                  </a:txBody>
                  <a:tcPr anchor="ctr"/>
                </a:tc>
                <a:extLst>
                  <a:ext uri="{0D108BD9-81ED-4DB2-BD59-A6C34878D82A}">
                    <a16:rowId xmlns:a16="http://schemas.microsoft.com/office/drawing/2014/main" val="3858997060"/>
                  </a:ext>
                </a:extLst>
              </a:tr>
              <a:tr h="846667">
                <a:tc>
                  <a:txBody>
                    <a:bodyPr/>
                    <a:lstStyle/>
                    <a:p>
                      <a:pPr algn="ctr">
                        <a:buNone/>
                      </a:pPr>
                      <a:r>
                        <a:rPr lang="en-IN" sz="4000">
                          <a:latin typeface="Times New Roman" panose="02020603050405020304" pitchFamily="18" charset="0"/>
                          <a:cs typeface="Times New Roman" panose="02020603050405020304" pitchFamily="18" charset="0"/>
                        </a:rPr>
                        <a:t>Lucide React</a:t>
                      </a:r>
                    </a:p>
                  </a:txBody>
                  <a:tcPr anchor="ctr"/>
                </a:tc>
                <a:tc>
                  <a:txBody>
                    <a:bodyPr/>
                    <a:lstStyle/>
                    <a:p>
                      <a:pPr algn="ctr">
                        <a:buNone/>
                      </a:pPr>
                      <a:r>
                        <a:rPr lang="en-IN" sz="4000" dirty="0">
                          <a:latin typeface="Times New Roman" panose="02020603050405020304" pitchFamily="18" charset="0"/>
                          <a:cs typeface="Times New Roman" panose="02020603050405020304" pitchFamily="18" charset="0"/>
                        </a:rPr>
                        <a:t>Icons and UI enhancement</a:t>
                      </a:r>
                    </a:p>
                  </a:txBody>
                  <a:tcPr anchor="ctr"/>
                </a:tc>
                <a:extLst>
                  <a:ext uri="{0D108BD9-81ED-4DB2-BD59-A6C34878D82A}">
                    <a16:rowId xmlns:a16="http://schemas.microsoft.com/office/drawing/2014/main" val="726820425"/>
                  </a:ext>
                </a:extLst>
              </a:tr>
              <a:tr h="846667">
                <a:tc>
                  <a:txBody>
                    <a:bodyPr/>
                    <a:lstStyle/>
                    <a:p>
                      <a:pPr algn="ctr">
                        <a:buNone/>
                      </a:pPr>
                      <a:r>
                        <a:rPr lang="en-IN" sz="4000">
                          <a:latin typeface="Times New Roman" panose="02020603050405020304" pitchFamily="18" charset="0"/>
                          <a:cs typeface="Times New Roman" panose="02020603050405020304" pitchFamily="18" charset="0"/>
                        </a:rPr>
                        <a:t>Vite</a:t>
                      </a:r>
                    </a:p>
                  </a:txBody>
                  <a:tcPr anchor="ctr"/>
                </a:tc>
                <a:tc>
                  <a:txBody>
                    <a:bodyPr/>
                    <a:lstStyle/>
                    <a:p>
                      <a:pPr algn="ctr">
                        <a:buNone/>
                      </a:pPr>
                      <a:r>
                        <a:rPr lang="en-IN" sz="4000" dirty="0">
                          <a:latin typeface="Times New Roman" panose="02020603050405020304" pitchFamily="18" charset="0"/>
                          <a:cs typeface="Times New Roman" panose="02020603050405020304" pitchFamily="18" charset="0"/>
                        </a:rPr>
                        <a:t>Fast frontend build tool</a:t>
                      </a:r>
                    </a:p>
                  </a:txBody>
                  <a:tcPr anchor="ctr"/>
                </a:tc>
                <a:extLst>
                  <a:ext uri="{0D108BD9-81ED-4DB2-BD59-A6C34878D82A}">
                    <a16:rowId xmlns:a16="http://schemas.microsoft.com/office/drawing/2014/main" val="185658076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62000" y="449005"/>
            <a:ext cx="16687800" cy="1243930"/>
          </a:xfrm>
          <a:prstGeom prst="rect">
            <a:avLst/>
          </a:prstGeom>
        </p:spPr>
        <p:txBody>
          <a:bodyPr vert="horz" wrap="square" lIns="0" tIns="12700" rIns="0" bIns="0" rtlCol="0">
            <a:spAutoFit/>
          </a:bodyPr>
          <a:lstStyle/>
          <a:p>
            <a:pPr marL="12700" algn="ctr">
              <a:lnSpc>
                <a:spcPct val="100000"/>
              </a:lnSpc>
              <a:spcBef>
                <a:spcPts val="100"/>
              </a:spcBef>
            </a:pPr>
            <a:r>
              <a:rPr lang="en-US" altLang="en-GB" sz="8000" spc="390" dirty="0"/>
              <a:t>PROJECT DESCRIPTION </a:t>
            </a:r>
          </a:p>
        </p:txBody>
      </p:sp>
      <p:sp>
        <p:nvSpPr>
          <p:cNvPr id="9" name="object 9"/>
          <p:cNvSpPr txBox="1"/>
          <p:nvPr/>
        </p:nvSpPr>
        <p:spPr>
          <a:xfrm>
            <a:off x="567290" y="2727679"/>
            <a:ext cx="17111110" cy="4831642"/>
          </a:xfrm>
          <a:prstGeom prst="rect">
            <a:avLst/>
          </a:prstGeom>
        </p:spPr>
        <p:txBody>
          <a:bodyPr vert="horz" wrap="square" lIns="0" tIns="12700" rIns="0" bIns="0" rtlCol="0">
            <a:noAutofit/>
          </a:bodyPr>
          <a:lstStyle/>
          <a:p>
            <a:r>
              <a:rPr lang="en-US" sz="3500" dirty="0">
                <a:latin typeface="Times New Roman" panose="02020603050405020304" pitchFamily="18" charset="0"/>
                <a:cs typeface="Times New Roman" panose="02020603050405020304" pitchFamily="18" charset="0"/>
              </a:rPr>
              <a:t>The application uses Google Gemini Generative AI to analyze the user inputs and create complete recipes instantly. The generated recipe includes recipe name, preparation time, ingredients list, cooking instructions, and chef tips in a well-structured format.</a:t>
            </a:r>
          </a:p>
          <a:p>
            <a:endParaRPr lang="en-US" sz="3500" dirty="0">
              <a:latin typeface="Times New Roman" panose="02020603050405020304" pitchFamily="18" charset="0"/>
              <a:cs typeface="Times New Roman" panose="02020603050405020304" pitchFamily="18" charset="0"/>
            </a:endParaRPr>
          </a:p>
          <a:p>
            <a:r>
              <a:rPr lang="en-US" sz="3500" dirty="0">
                <a:latin typeface="Times New Roman" panose="02020603050405020304" pitchFamily="18" charset="0"/>
                <a:cs typeface="Times New Roman" panose="02020603050405020304" pitchFamily="18" charset="0"/>
              </a:rPr>
              <a:t>The frontend of the application is developed using React.js with an interactive and responsive user interface. The system also uses Markdown rendering to display recipes clearly and attractively.</a:t>
            </a:r>
          </a:p>
          <a:p>
            <a:endParaRPr lang="en-US" sz="3500" dirty="0">
              <a:latin typeface="Times New Roman" panose="02020603050405020304" pitchFamily="18" charset="0"/>
              <a:cs typeface="Times New Roman" panose="02020603050405020304" pitchFamily="18" charset="0"/>
            </a:endParaRPr>
          </a:p>
          <a:p>
            <a:r>
              <a:rPr lang="en-US" sz="3500" dirty="0">
                <a:latin typeface="Times New Roman" panose="02020603050405020304" pitchFamily="18" charset="0"/>
                <a:cs typeface="Times New Roman" panose="02020603050405020304" pitchFamily="18" charset="0"/>
              </a:rPr>
              <a:t>This project helps users discover creative meal ideas, reduces food wastage by utilizing available ingredients, and demonstrates the practical implementation of Generative AI in real-world applications.</a:t>
            </a:r>
          </a:p>
          <a:p>
            <a:pPr marR="26670" algn="l">
              <a:lnSpc>
                <a:spcPct val="100000"/>
              </a:lnSpc>
              <a:spcBef>
                <a:spcPts val="100"/>
              </a:spcBef>
            </a:pPr>
            <a:endParaRPr lang="en-US" altLang="en-GB" sz="3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7CE15-5315-F3DC-0366-3A93227775F9}"/>
              </a:ext>
            </a:extLst>
          </p:cNvPr>
          <p:cNvSpPr>
            <a:spLocks noGrp="1"/>
          </p:cNvSpPr>
          <p:nvPr>
            <p:ph type="title"/>
          </p:nvPr>
        </p:nvSpPr>
        <p:spPr>
          <a:xfrm>
            <a:off x="1143000" y="495300"/>
            <a:ext cx="14401800" cy="1107996"/>
          </a:xfrm>
        </p:spPr>
        <p:txBody>
          <a:bodyPr/>
          <a:lstStyle/>
          <a:p>
            <a:pPr algn="ctr"/>
            <a:r>
              <a:rPr lang="en-IN" sz="7200" dirty="0"/>
              <a:t>IMPLEMENTATION</a:t>
            </a:r>
          </a:p>
        </p:txBody>
      </p:sp>
      <p:sp>
        <p:nvSpPr>
          <p:cNvPr id="3" name="TextBox 2">
            <a:extLst>
              <a:ext uri="{FF2B5EF4-FFF2-40B4-BE49-F238E27FC236}">
                <a16:creationId xmlns:a16="http://schemas.microsoft.com/office/drawing/2014/main" id="{29C408EA-4DA0-11FC-DB12-1C21063E6968}"/>
              </a:ext>
            </a:extLst>
          </p:cNvPr>
          <p:cNvSpPr txBox="1"/>
          <p:nvPr/>
        </p:nvSpPr>
        <p:spPr>
          <a:xfrm>
            <a:off x="1524000" y="2350830"/>
            <a:ext cx="12039599" cy="7478970"/>
          </a:xfrm>
          <a:prstGeom prst="rect">
            <a:avLst/>
          </a:prstGeom>
          <a:noFill/>
        </p:spPr>
        <p:txBody>
          <a:bodyPr wrap="square" rtlCol="0">
            <a:spAutoFit/>
          </a:bodyPr>
          <a:lstStyle/>
          <a:p>
            <a:pPr algn="ctr"/>
            <a:r>
              <a:rPr lang="en-IN" sz="3200" dirty="0">
                <a:latin typeface="Times New Roman" panose="02020603050405020304" pitchFamily="18" charset="0"/>
                <a:cs typeface="Times New Roman" panose="02020603050405020304" pitchFamily="18" charset="0"/>
              </a:rPr>
              <a:t>User Inputs Ingredients</a:t>
            </a:r>
          </a:p>
          <a:p>
            <a:pPr algn="ctr"/>
            <a:r>
              <a:rPr lang="en-IN" sz="3200" dirty="0">
                <a:latin typeface="Times New Roman" panose="02020603050405020304" pitchFamily="18" charset="0"/>
                <a:cs typeface="Times New Roman" panose="02020603050405020304" pitchFamily="18" charset="0"/>
              </a:rPr>
              <a:t>          ↓</a:t>
            </a:r>
          </a:p>
          <a:p>
            <a:pPr algn="ctr"/>
            <a:r>
              <a:rPr lang="en-IN" sz="3200" dirty="0">
                <a:latin typeface="Times New Roman" panose="02020603050405020304" pitchFamily="18" charset="0"/>
                <a:cs typeface="Times New Roman" panose="02020603050405020304" pitchFamily="18" charset="0"/>
              </a:rPr>
              <a:t>Selects Meal Type &amp; Dietary Preference</a:t>
            </a:r>
          </a:p>
          <a:p>
            <a:pPr algn="ctr"/>
            <a:r>
              <a:rPr lang="en-IN" sz="3200" dirty="0">
                <a:latin typeface="Times New Roman" panose="02020603050405020304" pitchFamily="18" charset="0"/>
                <a:cs typeface="Times New Roman" panose="02020603050405020304" pitchFamily="18" charset="0"/>
              </a:rPr>
              <a:t>          ↓</a:t>
            </a:r>
          </a:p>
          <a:p>
            <a:pPr algn="ctr"/>
            <a:r>
              <a:rPr lang="en-IN" sz="3200" dirty="0">
                <a:latin typeface="Times New Roman" panose="02020603050405020304" pitchFamily="18" charset="0"/>
                <a:cs typeface="Times New Roman" panose="02020603050405020304" pitchFamily="18" charset="0"/>
              </a:rPr>
              <a:t>React Form Collects Data</a:t>
            </a:r>
          </a:p>
          <a:p>
            <a:pPr algn="ctr"/>
            <a:r>
              <a:rPr lang="en-IN" sz="3200" dirty="0">
                <a:latin typeface="Times New Roman" panose="02020603050405020304" pitchFamily="18" charset="0"/>
                <a:cs typeface="Times New Roman" panose="02020603050405020304" pitchFamily="18" charset="0"/>
              </a:rPr>
              <a:t>          ↓</a:t>
            </a:r>
          </a:p>
          <a:p>
            <a:pPr algn="ctr"/>
            <a:r>
              <a:rPr lang="en-IN" sz="3200" dirty="0">
                <a:latin typeface="Times New Roman" panose="02020603050405020304" pitchFamily="18" charset="0"/>
                <a:cs typeface="Times New Roman" panose="02020603050405020304" pitchFamily="18" charset="0"/>
              </a:rPr>
              <a:t>Prompt Sent to Gemini AI API</a:t>
            </a:r>
          </a:p>
          <a:p>
            <a:pPr algn="ctr"/>
            <a:r>
              <a:rPr lang="en-IN" sz="3200" dirty="0">
                <a:latin typeface="Times New Roman" panose="02020603050405020304" pitchFamily="18" charset="0"/>
                <a:cs typeface="Times New Roman" panose="02020603050405020304" pitchFamily="18" charset="0"/>
              </a:rPr>
              <a:t>          ↓</a:t>
            </a:r>
          </a:p>
          <a:p>
            <a:pPr algn="ctr"/>
            <a:r>
              <a:rPr lang="en-IN" sz="3200" dirty="0">
                <a:latin typeface="Times New Roman" panose="02020603050405020304" pitchFamily="18" charset="0"/>
                <a:cs typeface="Times New Roman" panose="02020603050405020304" pitchFamily="18" charset="0"/>
              </a:rPr>
              <a:t>AI Generates Recipe</a:t>
            </a:r>
          </a:p>
          <a:p>
            <a:pPr algn="ctr"/>
            <a:r>
              <a:rPr lang="en-IN" sz="3200" dirty="0">
                <a:latin typeface="Times New Roman" panose="02020603050405020304" pitchFamily="18" charset="0"/>
                <a:cs typeface="Times New Roman" panose="02020603050405020304" pitchFamily="18" charset="0"/>
              </a:rPr>
              <a:t>          ↓</a:t>
            </a:r>
          </a:p>
          <a:p>
            <a:pPr algn="ctr"/>
            <a:r>
              <a:rPr lang="en-IN" sz="3200" dirty="0">
                <a:latin typeface="Times New Roman" panose="02020603050405020304" pitchFamily="18" charset="0"/>
                <a:cs typeface="Times New Roman" panose="02020603050405020304" pitchFamily="18" charset="0"/>
              </a:rPr>
              <a:t>Recipe Returned in Markdown Format</a:t>
            </a:r>
          </a:p>
          <a:p>
            <a:pPr algn="ctr"/>
            <a:r>
              <a:rPr lang="en-IN" sz="3200" dirty="0">
                <a:latin typeface="Times New Roman" panose="02020603050405020304" pitchFamily="18" charset="0"/>
                <a:cs typeface="Times New Roman" panose="02020603050405020304" pitchFamily="18" charset="0"/>
              </a:rPr>
              <a:t>          ↓</a:t>
            </a:r>
          </a:p>
          <a:p>
            <a:pPr algn="ctr"/>
            <a:r>
              <a:rPr lang="en-IN" sz="3200" dirty="0" err="1">
                <a:latin typeface="Times New Roman" panose="02020603050405020304" pitchFamily="18" charset="0"/>
                <a:cs typeface="Times New Roman" panose="02020603050405020304" pitchFamily="18" charset="0"/>
              </a:rPr>
              <a:t>ReactMarkdown</a:t>
            </a:r>
            <a:r>
              <a:rPr lang="en-IN" sz="3200" dirty="0">
                <a:latin typeface="Times New Roman" panose="02020603050405020304" pitchFamily="18" charset="0"/>
                <a:cs typeface="Times New Roman" panose="02020603050405020304" pitchFamily="18" charset="0"/>
              </a:rPr>
              <a:t> Renders Recipe</a:t>
            </a:r>
          </a:p>
          <a:p>
            <a:pPr algn="ctr"/>
            <a:r>
              <a:rPr lang="en-IN" sz="3200" dirty="0">
                <a:latin typeface="Times New Roman" panose="02020603050405020304" pitchFamily="18" charset="0"/>
                <a:cs typeface="Times New Roman" panose="02020603050405020304" pitchFamily="18" charset="0"/>
              </a:rPr>
              <a:t>          ↓</a:t>
            </a:r>
          </a:p>
          <a:p>
            <a:pPr algn="ctr"/>
            <a:r>
              <a:rPr lang="en-IN" sz="3200" dirty="0">
                <a:latin typeface="Times New Roman" panose="02020603050405020304" pitchFamily="18" charset="0"/>
                <a:cs typeface="Times New Roman" panose="02020603050405020304" pitchFamily="18" charset="0"/>
              </a:rPr>
              <a:t>Recipe Displayed to User</a:t>
            </a:r>
          </a:p>
        </p:txBody>
      </p:sp>
    </p:spTree>
    <p:extLst>
      <p:ext uri="{BB962C8B-B14F-4D97-AF65-F5344CB8AC3E}">
        <p14:creationId xmlns:p14="http://schemas.microsoft.com/office/powerpoint/2010/main" val="219590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object 18"/>
          <p:cNvSpPr txBox="1">
            <a:spLocks noGrp="1"/>
          </p:cNvSpPr>
          <p:nvPr>
            <p:ph type="title"/>
          </p:nvPr>
        </p:nvSpPr>
        <p:spPr>
          <a:xfrm>
            <a:off x="990601" y="373777"/>
            <a:ext cx="16535400" cy="1397819"/>
          </a:xfrm>
          <a:prstGeom prst="rect">
            <a:avLst/>
          </a:prstGeom>
        </p:spPr>
        <p:txBody>
          <a:bodyPr vert="horz" wrap="square" lIns="0" tIns="12700" rIns="0" bIns="0" rtlCol="0">
            <a:spAutoFit/>
          </a:bodyPr>
          <a:lstStyle/>
          <a:p>
            <a:pPr marL="12700" algn="ctr">
              <a:lnSpc>
                <a:spcPct val="100000"/>
              </a:lnSpc>
              <a:spcBef>
                <a:spcPts val="100"/>
              </a:spcBef>
            </a:pPr>
            <a:r>
              <a:rPr lang="en-IN" spc="375" dirty="0"/>
              <a:t>RESULT(</a:t>
            </a:r>
            <a:r>
              <a:rPr lang="en-IN" b="0" i="1" spc="375" dirty="0"/>
              <a:t>OUTPUT SNAPS</a:t>
            </a:r>
            <a:r>
              <a:rPr lang="en-IN" spc="375" dirty="0"/>
              <a:t>)</a:t>
            </a:r>
            <a:endParaRPr spc="375" dirty="0"/>
          </a:p>
        </p:txBody>
      </p:sp>
      <p:grpSp>
        <p:nvGrpSpPr>
          <p:cNvPr id="19" name="object 19"/>
          <p:cNvGrpSpPr/>
          <p:nvPr/>
        </p:nvGrpSpPr>
        <p:grpSpPr>
          <a:xfrm>
            <a:off x="12921170" y="5811176"/>
            <a:ext cx="848360" cy="560070"/>
            <a:chOff x="12921170" y="5811176"/>
            <a:chExt cx="848360" cy="560070"/>
          </a:xfrm>
        </p:grpSpPr>
        <p:sp>
          <p:nvSpPr>
            <p:cNvPr id="21" name="object 21"/>
            <p:cNvSpPr/>
            <p:nvPr/>
          </p:nvSpPr>
          <p:spPr>
            <a:xfrm>
              <a:off x="12921170" y="5811176"/>
              <a:ext cx="848360" cy="560070"/>
            </a:xfrm>
            <a:custGeom>
              <a:avLst/>
              <a:gdLst/>
              <a:ahLst/>
              <a:cxnLst/>
              <a:rect l="l" t="t" r="r" b="b"/>
              <a:pathLst>
                <a:path w="848359" h="560070">
                  <a:moveTo>
                    <a:pt x="625805" y="279400"/>
                  </a:moveTo>
                  <a:lnTo>
                    <a:pt x="625741" y="278130"/>
                  </a:lnTo>
                  <a:lnTo>
                    <a:pt x="622896" y="214630"/>
                  </a:lnTo>
                  <a:lnTo>
                    <a:pt x="614578" y="154940"/>
                  </a:lnTo>
                  <a:lnTo>
                    <a:pt x="612584" y="147015"/>
                  </a:lnTo>
                  <a:lnTo>
                    <a:pt x="612584" y="279400"/>
                  </a:lnTo>
                  <a:lnTo>
                    <a:pt x="608990" y="349250"/>
                  </a:lnTo>
                  <a:lnTo>
                    <a:pt x="598868" y="412750"/>
                  </a:lnTo>
                  <a:lnTo>
                    <a:pt x="583260" y="467360"/>
                  </a:lnTo>
                  <a:lnTo>
                    <a:pt x="563181" y="509270"/>
                  </a:lnTo>
                  <a:lnTo>
                    <a:pt x="513740" y="546100"/>
                  </a:lnTo>
                  <a:lnTo>
                    <a:pt x="504240" y="544830"/>
                  </a:lnTo>
                  <a:lnTo>
                    <a:pt x="471424" y="519430"/>
                  </a:lnTo>
                  <a:lnTo>
                    <a:pt x="468909" y="516890"/>
                  </a:lnTo>
                  <a:lnTo>
                    <a:pt x="468439" y="515620"/>
                  </a:lnTo>
                  <a:lnTo>
                    <a:pt x="456742" y="496570"/>
                  </a:lnTo>
                  <a:lnTo>
                    <a:pt x="448932" y="478790"/>
                  </a:lnTo>
                  <a:lnTo>
                    <a:pt x="446151" y="472440"/>
                  </a:lnTo>
                  <a:lnTo>
                    <a:pt x="436829" y="444500"/>
                  </a:lnTo>
                  <a:lnTo>
                    <a:pt x="434416" y="435178"/>
                  </a:lnTo>
                  <a:lnTo>
                    <a:pt x="434416" y="478790"/>
                  </a:lnTo>
                  <a:lnTo>
                    <a:pt x="398602" y="449580"/>
                  </a:lnTo>
                  <a:lnTo>
                    <a:pt x="358648" y="422910"/>
                  </a:lnTo>
                  <a:lnTo>
                    <a:pt x="314642" y="401320"/>
                  </a:lnTo>
                  <a:lnTo>
                    <a:pt x="276275" y="386080"/>
                  </a:lnTo>
                  <a:lnTo>
                    <a:pt x="266687" y="382270"/>
                  </a:lnTo>
                  <a:lnTo>
                    <a:pt x="258318" y="379730"/>
                  </a:lnTo>
                  <a:lnTo>
                    <a:pt x="252120" y="377190"/>
                  </a:lnTo>
                  <a:lnTo>
                    <a:pt x="251498" y="377075"/>
                  </a:lnTo>
                  <a:lnTo>
                    <a:pt x="251498" y="391160"/>
                  </a:lnTo>
                  <a:lnTo>
                    <a:pt x="248373" y="400050"/>
                  </a:lnTo>
                  <a:lnTo>
                    <a:pt x="243789" y="407670"/>
                  </a:lnTo>
                  <a:lnTo>
                    <a:pt x="237985" y="412750"/>
                  </a:lnTo>
                  <a:lnTo>
                    <a:pt x="231254" y="416560"/>
                  </a:lnTo>
                  <a:lnTo>
                    <a:pt x="231254" y="386080"/>
                  </a:lnTo>
                  <a:lnTo>
                    <a:pt x="242481" y="388620"/>
                  </a:lnTo>
                  <a:lnTo>
                    <a:pt x="251498" y="391160"/>
                  </a:lnTo>
                  <a:lnTo>
                    <a:pt x="251498" y="377075"/>
                  </a:lnTo>
                  <a:lnTo>
                    <a:pt x="245643" y="375920"/>
                  </a:lnTo>
                  <a:lnTo>
                    <a:pt x="239204" y="373380"/>
                  </a:lnTo>
                  <a:lnTo>
                    <a:pt x="232829" y="372110"/>
                  </a:lnTo>
                  <a:lnTo>
                    <a:pt x="226542" y="369570"/>
                  </a:lnTo>
                  <a:lnTo>
                    <a:pt x="218478" y="368541"/>
                  </a:lnTo>
                  <a:lnTo>
                    <a:pt x="218478" y="382270"/>
                  </a:lnTo>
                  <a:lnTo>
                    <a:pt x="218478" y="506730"/>
                  </a:lnTo>
                  <a:lnTo>
                    <a:pt x="215353" y="523240"/>
                  </a:lnTo>
                  <a:lnTo>
                    <a:pt x="206870" y="534670"/>
                  </a:lnTo>
                  <a:lnTo>
                    <a:pt x="194271" y="543560"/>
                  </a:lnTo>
                  <a:lnTo>
                    <a:pt x="178879" y="547370"/>
                  </a:lnTo>
                  <a:lnTo>
                    <a:pt x="171081" y="546100"/>
                  </a:lnTo>
                  <a:lnTo>
                    <a:pt x="140042" y="515620"/>
                  </a:lnTo>
                  <a:lnTo>
                    <a:pt x="139280" y="506730"/>
                  </a:lnTo>
                  <a:lnTo>
                    <a:pt x="139280" y="368300"/>
                  </a:lnTo>
                  <a:lnTo>
                    <a:pt x="172745" y="372110"/>
                  </a:lnTo>
                  <a:lnTo>
                    <a:pt x="183934" y="374650"/>
                  </a:lnTo>
                  <a:lnTo>
                    <a:pt x="192646" y="375920"/>
                  </a:lnTo>
                  <a:lnTo>
                    <a:pt x="201320" y="378460"/>
                  </a:lnTo>
                  <a:lnTo>
                    <a:pt x="209931" y="379730"/>
                  </a:lnTo>
                  <a:lnTo>
                    <a:pt x="218478" y="382270"/>
                  </a:lnTo>
                  <a:lnTo>
                    <a:pt x="218478" y="368541"/>
                  </a:lnTo>
                  <a:lnTo>
                    <a:pt x="216662" y="368300"/>
                  </a:lnTo>
                  <a:lnTo>
                    <a:pt x="196570" y="363220"/>
                  </a:lnTo>
                  <a:lnTo>
                    <a:pt x="186397" y="361950"/>
                  </a:lnTo>
                  <a:lnTo>
                    <a:pt x="159804" y="356870"/>
                  </a:lnTo>
                  <a:lnTo>
                    <a:pt x="133527" y="354330"/>
                  </a:lnTo>
                  <a:lnTo>
                    <a:pt x="128600" y="354330"/>
                  </a:lnTo>
                  <a:lnTo>
                    <a:pt x="118656" y="353060"/>
                  </a:lnTo>
                  <a:lnTo>
                    <a:pt x="118376" y="351790"/>
                  </a:lnTo>
                  <a:lnTo>
                    <a:pt x="107454" y="303530"/>
                  </a:lnTo>
                  <a:lnTo>
                    <a:pt x="107327" y="279400"/>
                  </a:lnTo>
                  <a:lnTo>
                    <a:pt x="107226" y="260350"/>
                  </a:lnTo>
                  <a:lnTo>
                    <a:pt x="112699" y="226060"/>
                  </a:lnTo>
                  <a:lnTo>
                    <a:pt x="118541" y="205740"/>
                  </a:lnTo>
                  <a:lnTo>
                    <a:pt x="134607" y="204470"/>
                  </a:lnTo>
                  <a:lnTo>
                    <a:pt x="150672" y="203200"/>
                  </a:lnTo>
                  <a:lnTo>
                    <a:pt x="190322" y="199390"/>
                  </a:lnTo>
                  <a:lnTo>
                    <a:pt x="235572" y="189230"/>
                  </a:lnTo>
                  <a:lnTo>
                    <a:pt x="284492" y="173990"/>
                  </a:lnTo>
                  <a:lnTo>
                    <a:pt x="335153" y="152400"/>
                  </a:lnTo>
                  <a:lnTo>
                    <a:pt x="385635" y="121920"/>
                  </a:lnTo>
                  <a:lnTo>
                    <a:pt x="434009" y="81280"/>
                  </a:lnTo>
                  <a:lnTo>
                    <a:pt x="420484" y="121920"/>
                  </a:lnTo>
                  <a:lnTo>
                    <a:pt x="410311" y="170180"/>
                  </a:lnTo>
                  <a:lnTo>
                    <a:pt x="403910" y="222250"/>
                  </a:lnTo>
                  <a:lnTo>
                    <a:pt x="401688" y="279400"/>
                  </a:lnTo>
                  <a:lnTo>
                    <a:pt x="403936" y="336550"/>
                  </a:lnTo>
                  <a:lnTo>
                    <a:pt x="410425" y="389890"/>
                  </a:lnTo>
                  <a:lnTo>
                    <a:pt x="420725" y="438150"/>
                  </a:lnTo>
                  <a:lnTo>
                    <a:pt x="434416" y="478790"/>
                  </a:lnTo>
                  <a:lnTo>
                    <a:pt x="434416" y="435178"/>
                  </a:lnTo>
                  <a:lnTo>
                    <a:pt x="428942" y="414020"/>
                  </a:lnTo>
                  <a:lnTo>
                    <a:pt x="502158" y="401320"/>
                  </a:lnTo>
                  <a:lnTo>
                    <a:pt x="552170" y="386080"/>
                  </a:lnTo>
                  <a:lnTo>
                    <a:pt x="576491" y="321310"/>
                  </a:lnTo>
                  <a:lnTo>
                    <a:pt x="579628" y="279400"/>
                  </a:lnTo>
                  <a:lnTo>
                    <a:pt x="579526" y="278130"/>
                  </a:lnTo>
                  <a:lnTo>
                    <a:pt x="576478" y="237490"/>
                  </a:lnTo>
                  <a:lnTo>
                    <a:pt x="567207" y="200660"/>
                  </a:lnTo>
                  <a:lnTo>
                    <a:pt x="566407" y="199263"/>
                  </a:lnTo>
                  <a:lnTo>
                    <a:pt x="566407" y="279400"/>
                  </a:lnTo>
                  <a:lnTo>
                    <a:pt x="563194" y="321310"/>
                  </a:lnTo>
                  <a:lnTo>
                    <a:pt x="554850" y="354330"/>
                  </a:lnTo>
                  <a:lnTo>
                    <a:pt x="543318" y="375920"/>
                  </a:lnTo>
                  <a:lnTo>
                    <a:pt x="530580" y="383540"/>
                  </a:lnTo>
                  <a:lnTo>
                    <a:pt x="517829" y="375920"/>
                  </a:lnTo>
                  <a:lnTo>
                    <a:pt x="510095" y="361429"/>
                  </a:lnTo>
                  <a:lnTo>
                    <a:pt x="510095" y="386080"/>
                  </a:lnTo>
                  <a:lnTo>
                    <a:pt x="426250" y="401320"/>
                  </a:lnTo>
                  <a:lnTo>
                    <a:pt x="421424" y="373380"/>
                  </a:lnTo>
                  <a:lnTo>
                    <a:pt x="417868" y="342900"/>
                  </a:lnTo>
                  <a:lnTo>
                    <a:pt x="417779" y="341630"/>
                  </a:lnTo>
                  <a:lnTo>
                    <a:pt x="417677" y="340360"/>
                  </a:lnTo>
                  <a:lnTo>
                    <a:pt x="415658" y="312420"/>
                  </a:lnTo>
                  <a:lnTo>
                    <a:pt x="415594" y="309880"/>
                  </a:lnTo>
                  <a:lnTo>
                    <a:pt x="415480" y="304800"/>
                  </a:lnTo>
                  <a:lnTo>
                    <a:pt x="415417" y="302260"/>
                  </a:lnTo>
                  <a:lnTo>
                    <a:pt x="414896" y="279400"/>
                  </a:lnTo>
                  <a:lnTo>
                    <a:pt x="414921" y="278130"/>
                  </a:lnTo>
                  <a:lnTo>
                    <a:pt x="415556" y="250190"/>
                  </a:lnTo>
                  <a:lnTo>
                    <a:pt x="415671" y="247650"/>
                  </a:lnTo>
                  <a:lnTo>
                    <a:pt x="417601" y="218440"/>
                  </a:lnTo>
                  <a:lnTo>
                    <a:pt x="420852" y="190500"/>
                  </a:lnTo>
                  <a:lnTo>
                    <a:pt x="425259" y="162560"/>
                  </a:lnTo>
                  <a:lnTo>
                    <a:pt x="443649" y="166370"/>
                  </a:lnTo>
                  <a:lnTo>
                    <a:pt x="488518" y="171450"/>
                  </a:lnTo>
                  <a:lnTo>
                    <a:pt x="508850" y="173990"/>
                  </a:lnTo>
                  <a:lnTo>
                    <a:pt x="497052" y="193040"/>
                  </a:lnTo>
                  <a:lnTo>
                    <a:pt x="488492" y="218440"/>
                  </a:lnTo>
                  <a:lnTo>
                    <a:pt x="483285" y="247650"/>
                  </a:lnTo>
                  <a:lnTo>
                    <a:pt x="483222" y="248920"/>
                  </a:lnTo>
                  <a:lnTo>
                    <a:pt x="483146" y="250190"/>
                  </a:lnTo>
                  <a:lnTo>
                    <a:pt x="483374" y="311150"/>
                  </a:lnTo>
                  <a:lnTo>
                    <a:pt x="497751" y="368300"/>
                  </a:lnTo>
                  <a:lnTo>
                    <a:pt x="510095" y="386080"/>
                  </a:lnTo>
                  <a:lnTo>
                    <a:pt x="510095" y="361429"/>
                  </a:lnTo>
                  <a:lnTo>
                    <a:pt x="506310" y="354330"/>
                  </a:lnTo>
                  <a:lnTo>
                    <a:pt x="497967" y="321310"/>
                  </a:lnTo>
                  <a:lnTo>
                    <a:pt x="494741" y="279400"/>
                  </a:lnTo>
                  <a:lnTo>
                    <a:pt x="494842" y="278130"/>
                  </a:lnTo>
                  <a:lnTo>
                    <a:pt x="497967" y="237490"/>
                  </a:lnTo>
                  <a:lnTo>
                    <a:pt x="506310" y="204470"/>
                  </a:lnTo>
                  <a:lnTo>
                    <a:pt x="517829" y="184150"/>
                  </a:lnTo>
                  <a:lnTo>
                    <a:pt x="530580" y="176530"/>
                  </a:lnTo>
                  <a:lnTo>
                    <a:pt x="543318" y="184150"/>
                  </a:lnTo>
                  <a:lnTo>
                    <a:pt x="554850" y="204470"/>
                  </a:lnTo>
                  <a:lnTo>
                    <a:pt x="563194" y="237490"/>
                  </a:lnTo>
                  <a:lnTo>
                    <a:pt x="566407" y="279400"/>
                  </a:lnTo>
                  <a:lnTo>
                    <a:pt x="566407" y="199263"/>
                  </a:lnTo>
                  <a:lnTo>
                    <a:pt x="553491" y="176530"/>
                  </a:lnTo>
                  <a:lnTo>
                    <a:pt x="552056" y="173990"/>
                  </a:lnTo>
                  <a:lnTo>
                    <a:pt x="531228" y="162560"/>
                  </a:lnTo>
                  <a:lnTo>
                    <a:pt x="518947" y="161290"/>
                  </a:lnTo>
                  <a:lnTo>
                    <a:pt x="490461" y="158750"/>
                  </a:lnTo>
                  <a:lnTo>
                    <a:pt x="456514" y="153670"/>
                  </a:lnTo>
                  <a:lnTo>
                    <a:pt x="427837" y="149860"/>
                  </a:lnTo>
                  <a:lnTo>
                    <a:pt x="443420" y="93980"/>
                  </a:lnTo>
                  <a:lnTo>
                    <a:pt x="449364" y="81280"/>
                  </a:lnTo>
                  <a:lnTo>
                    <a:pt x="463638" y="50800"/>
                  </a:lnTo>
                  <a:lnTo>
                    <a:pt x="487438" y="22860"/>
                  </a:lnTo>
                  <a:lnTo>
                    <a:pt x="513740" y="12700"/>
                  </a:lnTo>
                  <a:lnTo>
                    <a:pt x="539661" y="22860"/>
                  </a:lnTo>
                  <a:lnTo>
                    <a:pt x="583260" y="91440"/>
                  </a:lnTo>
                  <a:lnTo>
                    <a:pt x="598868" y="146050"/>
                  </a:lnTo>
                  <a:lnTo>
                    <a:pt x="608990" y="209550"/>
                  </a:lnTo>
                  <a:lnTo>
                    <a:pt x="612584" y="279400"/>
                  </a:lnTo>
                  <a:lnTo>
                    <a:pt x="612584" y="147015"/>
                  </a:lnTo>
                  <a:lnTo>
                    <a:pt x="601484" y="102870"/>
                  </a:lnTo>
                  <a:lnTo>
                    <a:pt x="584225" y="59690"/>
                  </a:lnTo>
                  <a:lnTo>
                    <a:pt x="546709" y="12700"/>
                  </a:lnTo>
                  <a:lnTo>
                    <a:pt x="513740" y="0"/>
                  </a:lnTo>
                  <a:lnTo>
                    <a:pt x="500392" y="1270"/>
                  </a:lnTo>
                  <a:lnTo>
                    <a:pt x="487565" y="6350"/>
                  </a:lnTo>
                  <a:lnTo>
                    <a:pt x="475310" y="15240"/>
                  </a:lnTo>
                  <a:lnTo>
                    <a:pt x="463715" y="27940"/>
                  </a:lnTo>
                  <a:lnTo>
                    <a:pt x="463270" y="27940"/>
                  </a:lnTo>
                  <a:lnTo>
                    <a:pt x="419493" y="76200"/>
                  </a:lnTo>
                  <a:lnTo>
                    <a:pt x="371932" y="115570"/>
                  </a:lnTo>
                  <a:lnTo>
                    <a:pt x="322491" y="143510"/>
                  </a:lnTo>
                  <a:lnTo>
                    <a:pt x="273088" y="165100"/>
                  </a:lnTo>
                  <a:lnTo>
                    <a:pt x="225628" y="179070"/>
                  </a:lnTo>
                  <a:lnTo>
                    <a:pt x="182029" y="186690"/>
                  </a:lnTo>
                  <a:lnTo>
                    <a:pt x="114096" y="191770"/>
                  </a:lnTo>
                  <a:lnTo>
                    <a:pt x="104978" y="191770"/>
                  </a:lnTo>
                  <a:lnTo>
                    <a:pt x="104978" y="205740"/>
                  </a:lnTo>
                  <a:lnTo>
                    <a:pt x="98818" y="228600"/>
                  </a:lnTo>
                  <a:lnTo>
                    <a:pt x="93967" y="262890"/>
                  </a:lnTo>
                  <a:lnTo>
                    <a:pt x="93980" y="264160"/>
                  </a:lnTo>
                  <a:lnTo>
                    <a:pt x="94576" y="304800"/>
                  </a:lnTo>
                  <a:lnTo>
                    <a:pt x="104813" y="351790"/>
                  </a:lnTo>
                  <a:lnTo>
                    <a:pt x="82880" y="351790"/>
                  </a:lnTo>
                  <a:lnTo>
                    <a:pt x="82308" y="349250"/>
                  </a:lnTo>
                  <a:lnTo>
                    <a:pt x="71945" y="303530"/>
                  </a:lnTo>
                  <a:lnTo>
                    <a:pt x="71818" y="260350"/>
                  </a:lnTo>
                  <a:lnTo>
                    <a:pt x="77254" y="226060"/>
                  </a:lnTo>
                  <a:lnTo>
                    <a:pt x="82321" y="207010"/>
                  </a:lnTo>
                  <a:lnTo>
                    <a:pt x="82994" y="204470"/>
                  </a:lnTo>
                  <a:lnTo>
                    <a:pt x="86448" y="204470"/>
                  </a:lnTo>
                  <a:lnTo>
                    <a:pt x="93573" y="205740"/>
                  </a:lnTo>
                  <a:lnTo>
                    <a:pt x="104978" y="205740"/>
                  </a:lnTo>
                  <a:lnTo>
                    <a:pt x="104978" y="191770"/>
                  </a:lnTo>
                  <a:lnTo>
                    <a:pt x="77889" y="191770"/>
                  </a:lnTo>
                  <a:lnTo>
                    <a:pt x="68935" y="193319"/>
                  </a:lnTo>
                  <a:lnTo>
                    <a:pt x="68935" y="207010"/>
                  </a:lnTo>
                  <a:lnTo>
                    <a:pt x="63017" y="229870"/>
                  </a:lnTo>
                  <a:lnTo>
                    <a:pt x="58483" y="264160"/>
                  </a:lnTo>
                  <a:lnTo>
                    <a:pt x="59093" y="304800"/>
                  </a:lnTo>
                  <a:lnTo>
                    <a:pt x="68605" y="349250"/>
                  </a:lnTo>
                  <a:lnTo>
                    <a:pt x="46545" y="340360"/>
                  </a:lnTo>
                  <a:lnTo>
                    <a:pt x="28994" y="323850"/>
                  </a:lnTo>
                  <a:lnTo>
                    <a:pt x="17399" y="302260"/>
                  </a:lnTo>
                  <a:lnTo>
                    <a:pt x="13208" y="278130"/>
                  </a:lnTo>
                  <a:lnTo>
                    <a:pt x="14592" y="264160"/>
                  </a:lnTo>
                  <a:lnTo>
                    <a:pt x="34315" y="226060"/>
                  </a:lnTo>
                  <a:lnTo>
                    <a:pt x="68935" y="207010"/>
                  </a:lnTo>
                  <a:lnTo>
                    <a:pt x="68935" y="193319"/>
                  </a:lnTo>
                  <a:lnTo>
                    <a:pt x="24879" y="217170"/>
                  </a:lnTo>
                  <a:lnTo>
                    <a:pt x="1625" y="261620"/>
                  </a:lnTo>
                  <a:lnTo>
                    <a:pt x="1498" y="262890"/>
                  </a:lnTo>
                  <a:lnTo>
                    <a:pt x="1371" y="264160"/>
                  </a:lnTo>
                  <a:lnTo>
                    <a:pt x="6019" y="309880"/>
                  </a:lnTo>
                  <a:lnTo>
                    <a:pt x="47256" y="355600"/>
                  </a:lnTo>
                  <a:lnTo>
                    <a:pt x="77800" y="364490"/>
                  </a:lnTo>
                  <a:lnTo>
                    <a:pt x="92925" y="364490"/>
                  </a:lnTo>
                  <a:lnTo>
                    <a:pt x="101854" y="365760"/>
                  </a:lnTo>
                  <a:lnTo>
                    <a:pt x="117983" y="365760"/>
                  </a:lnTo>
                  <a:lnTo>
                    <a:pt x="126504" y="367030"/>
                  </a:lnTo>
                  <a:lnTo>
                    <a:pt x="126504" y="506730"/>
                  </a:lnTo>
                  <a:lnTo>
                    <a:pt x="127508" y="518160"/>
                  </a:lnTo>
                  <a:lnTo>
                    <a:pt x="149809" y="551180"/>
                  </a:lnTo>
                  <a:lnTo>
                    <a:pt x="178879" y="560070"/>
                  </a:lnTo>
                  <a:lnTo>
                    <a:pt x="199250" y="554990"/>
                  </a:lnTo>
                  <a:lnTo>
                    <a:pt x="211734" y="547370"/>
                  </a:lnTo>
                  <a:lnTo>
                    <a:pt x="215900" y="544830"/>
                  </a:lnTo>
                  <a:lnTo>
                    <a:pt x="227139" y="527050"/>
                  </a:lnTo>
                  <a:lnTo>
                    <a:pt x="231254" y="506730"/>
                  </a:lnTo>
                  <a:lnTo>
                    <a:pt x="231254" y="431800"/>
                  </a:lnTo>
                  <a:lnTo>
                    <a:pt x="242430" y="426720"/>
                  </a:lnTo>
                  <a:lnTo>
                    <a:pt x="251980" y="419100"/>
                  </a:lnTo>
                  <a:lnTo>
                    <a:pt x="253644" y="416560"/>
                  </a:lnTo>
                  <a:lnTo>
                    <a:pt x="259473" y="407670"/>
                  </a:lnTo>
                  <a:lnTo>
                    <a:pt x="311150" y="414020"/>
                  </a:lnTo>
                  <a:lnTo>
                    <a:pt x="353910" y="435610"/>
                  </a:lnTo>
                  <a:lnTo>
                    <a:pt x="392671" y="461010"/>
                  </a:lnTo>
                  <a:lnTo>
                    <a:pt x="427342" y="490220"/>
                  </a:lnTo>
                  <a:lnTo>
                    <a:pt x="457822" y="523240"/>
                  </a:lnTo>
                  <a:lnTo>
                    <a:pt x="461111" y="528320"/>
                  </a:lnTo>
                  <a:lnTo>
                    <a:pt x="463537" y="530860"/>
                  </a:lnTo>
                  <a:lnTo>
                    <a:pt x="466013" y="534670"/>
                  </a:lnTo>
                  <a:lnTo>
                    <a:pt x="466458" y="534670"/>
                  </a:lnTo>
                  <a:lnTo>
                    <a:pt x="477520" y="544830"/>
                  </a:lnTo>
                  <a:lnTo>
                    <a:pt x="489102" y="553720"/>
                  </a:lnTo>
                  <a:lnTo>
                    <a:pt x="501205" y="558800"/>
                  </a:lnTo>
                  <a:lnTo>
                    <a:pt x="513740" y="560070"/>
                  </a:lnTo>
                  <a:lnTo>
                    <a:pt x="539737" y="552450"/>
                  </a:lnTo>
                  <a:lnTo>
                    <a:pt x="547141" y="546100"/>
                  </a:lnTo>
                  <a:lnTo>
                    <a:pt x="563435" y="532130"/>
                  </a:lnTo>
                  <a:lnTo>
                    <a:pt x="584225" y="499110"/>
                  </a:lnTo>
                  <a:lnTo>
                    <a:pt x="601484" y="455930"/>
                  </a:lnTo>
                  <a:lnTo>
                    <a:pt x="614578" y="403860"/>
                  </a:lnTo>
                  <a:lnTo>
                    <a:pt x="622896" y="344170"/>
                  </a:lnTo>
                  <a:lnTo>
                    <a:pt x="622947" y="342900"/>
                  </a:lnTo>
                  <a:lnTo>
                    <a:pt x="623062" y="340360"/>
                  </a:lnTo>
                  <a:lnTo>
                    <a:pt x="625805" y="279400"/>
                  </a:lnTo>
                  <a:close/>
                </a:path>
                <a:path w="848359" h="560070">
                  <a:moveTo>
                    <a:pt x="847813" y="275399"/>
                  </a:moveTo>
                  <a:lnTo>
                    <a:pt x="844854" y="272440"/>
                  </a:lnTo>
                  <a:lnTo>
                    <a:pt x="693775" y="272440"/>
                  </a:lnTo>
                  <a:lnTo>
                    <a:pt x="690816" y="275399"/>
                  </a:lnTo>
                  <a:lnTo>
                    <a:pt x="690816" y="282702"/>
                  </a:lnTo>
                  <a:lnTo>
                    <a:pt x="693775" y="285648"/>
                  </a:lnTo>
                  <a:lnTo>
                    <a:pt x="841197" y="285648"/>
                  </a:lnTo>
                  <a:lnTo>
                    <a:pt x="844854" y="285648"/>
                  </a:lnTo>
                  <a:lnTo>
                    <a:pt x="847813" y="282702"/>
                  </a:lnTo>
                  <a:lnTo>
                    <a:pt x="847813" y="275399"/>
                  </a:lnTo>
                  <a:close/>
                </a:path>
              </a:pathLst>
            </a:custGeom>
            <a:solidFill>
              <a:srgbClr val="FFFFFF"/>
            </a:solidFill>
          </p:spPr>
          <p:txBody>
            <a:bodyPr wrap="square" lIns="0" tIns="0" rIns="0" bIns="0" rtlCol="0"/>
            <a:lstStyle/>
            <a:p>
              <a:endParaRPr dirty="0"/>
            </a:p>
          </p:txBody>
        </p:sp>
        <p:pic>
          <p:nvPicPr>
            <p:cNvPr id="22" name="object 22"/>
            <p:cNvPicPr/>
            <p:nvPr/>
          </p:nvPicPr>
          <p:blipFill>
            <a:blip r:embed="rId3" cstate="print"/>
            <a:stretch>
              <a:fillRect/>
            </a:stretch>
          </p:blipFill>
          <p:spPr>
            <a:xfrm>
              <a:off x="13586571" y="5905052"/>
              <a:ext cx="148297" cy="67970"/>
            </a:xfrm>
            <a:prstGeom prst="rect">
              <a:avLst/>
            </a:prstGeom>
          </p:spPr>
        </p:pic>
        <p:pic>
          <p:nvPicPr>
            <p:cNvPr id="23" name="object 23"/>
            <p:cNvPicPr/>
            <p:nvPr/>
          </p:nvPicPr>
          <p:blipFill>
            <a:blip r:embed="rId4" cstate="print"/>
            <a:stretch>
              <a:fillRect/>
            </a:stretch>
          </p:blipFill>
          <p:spPr>
            <a:xfrm>
              <a:off x="13587477" y="6206701"/>
              <a:ext cx="148297" cy="67960"/>
            </a:xfrm>
            <a:prstGeom prst="rect">
              <a:avLst/>
            </a:prstGeom>
          </p:spPr>
        </p:pic>
      </p:grpSp>
      <p:pic>
        <p:nvPicPr>
          <p:cNvPr id="3" name="Picture 2">
            <a:extLst>
              <a:ext uri="{FF2B5EF4-FFF2-40B4-BE49-F238E27FC236}">
                <a16:creationId xmlns:a16="http://schemas.microsoft.com/office/drawing/2014/main" id="{7CAE61EA-91B3-DD69-B063-CEDAE02331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76400" y="2476500"/>
            <a:ext cx="14325600" cy="6172200"/>
          </a:xfrm>
          <a:prstGeom prst="rect">
            <a:avLst/>
          </a:prstGeom>
        </p:spPr>
      </p:pic>
      <p:sp>
        <p:nvSpPr>
          <p:cNvPr id="4" name="TextBox 3">
            <a:extLst>
              <a:ext uri="{FF2B5EF4-FFF2-40B4-BE49-F238E27FC236}">
                <a16:creationId xmlns:a16="http://schemas.microsoft.com/office/drawing/2014/main" id="{2FB22236-0746-B6D7-7366-80C716D3D930}"/>
              </a:ext>
            </a:extLst>
          </p:cNvPr>
          <p:cNvSpPr txBox="1"/>
          <p:nvPr/>
        </p:nvSpPr>
        <p:spPr>
          <a:xfrm>
            <a:off x="6629400" y="8877300"/>
            <a:ext cx="4648200" cy="369332"/>
          </a:xfrm>
          <a:prstGeom prst="rect">
            <a:avLst/>
          </a:prstGeom>
          <a:noFill/>
        </p:spPr>
        <p:txBody>
          <a:bodyPr wrap="square" rtlCol="0">
            <a:spAutoFit/>
          </a:bodyPr>
          <a:lstStyle/>
          <a:p>
            <a:pPr algn="ctr"/>
            <a:r>
              <a:rPr lang="en-IN" dirty="0"/>
              <a:t>FIG 01: HOMEPAGE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3AF97B-C4EE-42DE-5B2D-3B47EA4691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333500"/>
            <a:ext cx="7349415" cy="7944959"/>
          </a:xfrm>
          <a:prstGeom prst="rect">
            <a:avLst/>
          </a:prstGeom>
        </p:spPr>
      </p:pic>
      <p:pic>
        <p:nvPicPr>
          <p:cNvPr id="7" name="Picture 6">
            <a:extLst>
              <a:ext uri="{FF2B5EF4-FFF2-40B4-BE49-F238E27FC236}">
                <a16:creationId xmlns:a16="http://schemas.microsoft.com/office/drawing/2014/main" id="{9E8A7B14-A541-3A69-1F0D-6002578374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7400" y="1333500"/>
            <a:ext cx="7349416" cy="7944959"/>
          </a:xfrm>
          <a:prstGeom prst="rect">
            <a:avLst/>
          </a:prstGeom>
        </p:spPr>
      </p:pic>
    </p:spTree>
    <p:extLst>
      <p:ext uri="{BB962C8B-B14F-4D97-AF65-F5344CB8AC3E}">
        <p14:creationId xmlns:p14="http://schemas.microsoft.com/office/powerpoint/2010/main" val="2833610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94D3D-9CDB-5742-8909-59B599934478}"/>
              </a:ext>
            </a:extLst>
          </p:cNvPr>
          <p:cNvSpPr>
            <a:spLocks noGrp="1"/>
          </p:cNvSpPr>
          <p:nvPr>
            <p:ph type="title"/>
          </p:nvPr>
        </p:nvSpPr>
        <p:spPr>
          <a:xfrm>
            <a:off x="3810000" y="876301"/>
            <a:ext cx="9906000" cy="1600200"/>
          </a:xfrm>
        </p:spPr>
        <p:txBody>
          <a:bodyPr/>
          <a:lstStyle/>
          <a:p>
            <a:r>
              <a:rPr lang="en-IN" dirty="0"/>
              <a:t>CONCLUSION</a:t>
            </a:r>
          </a:p>
        </p:txBody>
      </p:sp>
      <p:sp>
        <p:nvSpPr>
          <p:cNvPr id="3" name="Text Placeholder 2">
            <a:extLst>
              <a:ext uri="{FF2B5EF4-FFF2-40B4-BE49-F238E27FC236}">
                <a16:creationId xmlns:a16="http://schemas.microsoft.com/office/drawing/2014/main" id="{EE2637F3-029E-64BC-FB2E-B091315DAE1C}"/>
              </a:ext>
            </a:extLst>
          </p:cNvPr>
          <p:cNvSpPr>
            <a:spLocks noGrp="1"/>
          </p:cNvSpPr>
          <p:nvPr>
            <p:ph type="body" idx="1"/>
          </p:nvPr>
        </p:nvSpPr>
        <p:spPr>
          <a:xfrm>
            <a:off x="1208064" y="2676757"/>
            <a:ext cx="16051242" cy="4924425"/>
          </a:xfrm>
        </p:spPr>
        <p:txBody>
          <a:bodyPr/>
          <a:lstStyle/>
          <a:p>
            <a:r>
              <a:rPr lang="en-US" sz="4000" dirty="0">
                <a:latin typeface="Times New Roman" panose="02020603050405020304" pitchFamily="18" charset="0"/>
                <a:cs typeface="Times New Roman" panose="02020603050405020304" pitchFamily="18" charset="0"/>
              </a:rPr>
              <a:t>The  Recipe Generator successfully demonstrates the integration of Generative AI with modern web technologies to create an intelligent and interactive cooking assistant. </a:t>
            </a:r>
          </a:p>
          <a:p>
            <a:r>
              <a:rPr lang="en-US" sz="4000" dirty="0">
                <a:latin typeface="Times New Roman" panose="02020603050405020304" pitchFamily="18" charset="0"/>
                <a:cs typeface="Times New Roman" panose="02020603050405020304" pitchFamily="18" charset="0"/>
              </a:rPr>
              <a:t>The project showcases the practical use of Artificial Intelligence, Natural Language Processing, and prompt engineering in solving real-world problems such as meal planning and food wastage reduction. The system provides a user-friendly experience with fast and dynamic recipe generation capabilities.</a:t>
            </a:r>
          </a:p>
          <a:p>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58974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690</TotalTime>
  <Words>533</Words>
  <Application>Microsoft Office PowerPoint</Application>
  <PresentationFormat>Custom</PresentationFormat>
  <Paragraphs>92</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Wingdings</vt:lpstr>
      <vt:lpstr>Office Theme</vt:lpstr>
      <vt:lpstr>PowerPoint Presentation</vt:lpstr>
      <vt:lpstr>PowerPoint Presentation</vt:lpstr>
      <vt:lpstr>ABSTRACT</vt:lpstr>
      <vt:lpstr>OBJECTIVES</vt:lpstr>
      <vt:lpstr>SCOPE OF PROJECT</vt:lpstr>
      <vt:lpstr>PowerPoint Presentation</vt:lpstr>
      <vt:lpstr>PROJECT DESCRIPTION </vt:lpstr>
      <vt:lpstr>IMPLEMENTATION</vt:lpstr>
      <vt:lpstr>RESULT(OUTPUT SNAPS)</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Neon Pink Bright Blue White Modular Abstract Business Case Study and Report Business Presentation</dc:title>
  <dc:creator>Pushpitha JR</dc:creator>
  <cp:keywords>DAGoC75KjPk,BAGIl1vqpbw,0</cp:keywords>
  <cp:lastModifiedBy>Pushpitha J R</cp:lastModifiedBy>
  <cp:revision>26</cp:revision>
  <dcterms:created xsi:type="dcterms:W3CDTF">2025-05-21T03:46:31Z</dcterms:created>
  <dcterms:modified xsi:type="dcterms:W3CDTF">2026-05-12T09:17:46Z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2025-05-21T00:00:00Z</vt:filetime>
  </property>
  <property fmtid="{D5CDD505-2E9C-101B-9397-08002B2CF9AE}" pid="3" name="Creator">
    <vt:lpwstr>Canva</vt:lpwstr>
  </property>
  <property fmtid="{D5CDD505-2E9C-101B-9397-08002B2CF9AE}" pid="4" name="LastSaved">
    <vt:filetime>2025-05-21T00:00:00Z</vt:filetime>
  </property>
  <property fmtid="{D5CDD505-2E9C-101B-9397-08002B2CF9AE}" pid="5" name="Producer">
    <vt:lpwstr>Canva</vt:lpwstr>
  </property>
</Properties>
</file>